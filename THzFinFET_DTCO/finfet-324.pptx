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3319" r:id="rId3"/>
    <p:sldId id="3320" r:id="rId4"/>
    <p:sldId id="3321" r:id="rId5"/>
    <p:sldId id="3338" r:id="rId6"/>
    <p:sldId id="3336" r:id="rId7"/>
    <p:sldId id="3323" r:id="rId8"/>
    <p:sldId id="3324" r:id="rId9"/>
    <p:sldId id="3315" r:id="rId10"/>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30A5990-FC6D-4FCB-94C2-0A1EEEC9660C}">
          <p14:sldIdLst>
            <p14:sldId id="256"/>
            <p14:sldId id="3319"/>
            <p14:sldId id="3320"/>
            <p14:sldId id="3321"/>
            <p14:sldId id="3338"/>
            <p14:sldId id="3336"/>
            <p14:sldId id="3323"/>
            <p14:sldId id="3324"/>
            <p14:sldId id="331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FF"/>
    <a:srgbClr val="0000CC"/>
    <a:srgbClr val="2517DF"/>
    <a:srgbClr val="DEEBF7"/>
    <a:srgbClr val="5B9BD5"/>
    <a:srgbClr val="EED4F8"/>
    <a:srgbClr val="FF0066"/>
    <a:srgbClr val="FA99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64" autoAdjust="0"/>
    <p:restoredTop sz="87884" autoAdjust="0"/>
  </p:normalViewPr>
  <p:slideViewPr>
    <p:cSldViewPr snapToGrid="0">
      <p:cViewPr>
        <p:scale>
          <a:sx n="75" d="100"/>
          <a:sy n="75" d="100"/>
        </p:scale>
        <p:origin x="1334" y="9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34F72813-5768-4F8D-BE36-3C1D715DC47D}" type="datetimeFigureOut">
              <a:rPr lang="zh-CN" altLang="en-US" smtClean="0"/>
              <a:t>2026/3/22</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5CED9D32-4B3F-41CB-ABC5-99F332C39B8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DB9FF-6A1D-5FF5-4D9F-060D7992E7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17025E-B0BD-1888-455D-BE6500B0A68E}"/>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EDC28188-8197-96A3-D134-57877466C53A}"/>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14316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A9AC7B9-4DF4-43AD-BD0A-8ADF7C262DE6}"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2E5C64A-9BB9-45FD-A0D9-69FE99F6CEB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9AC7B9-4DF4-43AD-BD0A-8ADF7C262DE6}" type="datetimeFigureOut">
              <a:rPr lang="zh-CN" altLang="en-US" smtClean="0"/>
              <a:t>2026/3/22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E5C64A-9BB9-45FD-A0D9-69FE99F6CEB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252316"/>
            <a:ext cx="12192000" cy="7110316"/>
          </a:xfrm>
          <a:prstGeom prst="rect">
            <a:avLst/>
          </a:prstGeom>
        </p:spPr>
      </p:pic>
      <p:sp>
        <p:nvSpPr>
          <p:cNvPr id="2" name="文本框 1"/>
          <p:cNvSpPr txBox="1"/>
          <p:nvPr/>
        </p:nvSpPr>
        <p:spPr>
          <a:xfrm>
            <a:off x="1019702" y="1102049"/>
            <a:ext cx="10152591" cy="3415030"/>
          </a:xfrm>
          <a:prstGeom prst="rect">
            <a:avLst/>
          </a:prstGeom>
          <a:noFill/>
        </p:spPr>
        <p:txBody>
          <a:bodyPr wrap="square" rtlCol="0">
            <a:spAutoFit/>
          </a:bodyPr>
          <a:lstStyle/>
          <a:p>
            <a:pPr algn="ctr"/>
            <a:r>
              <a:rPr lang="zh-CN" altLang="en-US" sz="5400" b="1" dirty="0">
                <a:solidFill>
                  <a:srgbClr val="2517DF"/>
                </a:solidFill>
                <a:latin typeface="微软雅黑" panose="020B0503020204020204" pitchFamily="34" charset="-122"/>
                <a:ea typeface="微软雅黑" panose="020B0503020204020204" pitchFamily="34" charset="-122"/>
                <a:cs typeface="阿里巴巴普惠体 B" panose="00020600040101010101" pitchFamily="18" charset="-122"/>
                <a:sym typeface="+mn-ea"/>
              </a:rPr>
              <a:t>面向毫米波和太赫兹芯片的</a:t>
            </a:r>
            <a:r>
              <a:rPr lang="en-US" altLang="zh-CN" sz="5400" b="1" dirty="0">
                <a:solidFill>
                  <a:srgbClr val="2517DF"/>
                </a:solidFill>
                <a:latin typeface="微软雅黑" panose="020B0503020204020204" pitchFamily="34" charset="-122"/>
                <a:ea typeface="微软雅黑" panose="020B0503020204020204" pitchFamily="34" charset="-122"/>
                <a:cs typeface="阿里巴巴普惠体 B" panose="00020600040101010101" pitchFamily="18" charset="-122"/>
                <a:sym typeface="+mn-ea"/>
              </a:rPr>
              <a:t>FinFET</a:t>
            </a:r>
            <a:r>
              <a:rPr lang="zh-CN" altLang="en-US" sz="5400" b="1" dirty="0">
                <a:solidFill>
                  <a:srgbClr val="2517DF"/>
                </a:solidFill>
                <a:latin typeface="微软雅黑" panose="020B0503020204020204" pitchFamily="34" charset="-122"/>
                <a:ea typeface="微软雅黑" panose="020B0503020204020204" pitchFamily="34" charset="-122"/>
                <a:cs typeface="阿里巴巴普惠体 B" panose="00020600040101010101" pitchFamily="18" charset="-122"/>
                <a:sym typeface="+mn-ea"/>
              </a:rPr>
              <a:t>器件和射频电路协同优化研究</a:t>
            </a:r>
          </a:p>
          <a:p>
            <a:pPr algn="ctr"/>
            <a:endParaRPr lang="zh-CN" altLang="en-US" sz="5400" b="1" dirty="0">
              <a:solidFill>
                <a:srgbClr val="2517DF"/>
              </a:solidFill>
              <a:latin typeface="微软雅黑" panose="020B0503020204020204" pitchFamily="34" charset="-122"/>
              <a:ea typeface="微软雅黑" panose="020B0503020204020204" pitchFamily="34" charset="-122"/>
              <a:cs typeface="阿里巴巴普惠体 B" panose="00020600040101010101" pitchFamily="18" charset="-122"/>
              <a:sym typeface="+mn-ea"/>
            </a:endParaRPr>
          </a:p>
        </p:txBody>
      </p:sp>
      <p:sp>
        <p:nvSpPr>
          <p:cNvPr id="3" name="文本框 2"/>
          <p:cNvSpPr txBox="1"/>
          <p:nvPr/>
        </p:nvSpPr>
        <p:spPr>
          <a:xfrm>
            <a:off x="3509610" y="5151141"/>
            <a:ext cx="4939126" cy="76835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pPr algn="ctr"/>
            <a:r>
              <a:rPr lang="en-US" altLang="zh-CN" sz="4400" b="1" dirty="0">
                <a:solidFill>
                  <a:srgbClr val="2517DF"/>
                </a:solidFill>
                <a:latin typeface="Arial" panose="020B0604020202020204" pitchFamily="34" charset="0"/>
                <a:ea typeface="华文新魏" panose="02010800040101010101" pitchFamily="2" charset="-122"/>
                <a:cs typeface="Arial" panose="020B0604020202020204" pitchFamily="34" charset="0"/>
              </a:rPr>
              <a:t>2026/03/24</a:t>
            </a:r>
            <a:endParaRPr lang="zh-CN" altLang="en-US" sz="4400" b="1" dirty="0">
              <a:solidFill>
                <a:srgbClr val="2517DF"/>
              </a:solidFill>
              <a:latin typeface="Arial" panose="020B0604020202020204" pitchFamily="34" charset="0"/>
              <a:ea typeface="华文新魏" panose="02010800040101010101" pitchFamily="2" charset="-122"/>
              <a:cs typeface="Arial" panose="020B0604020202020204" pitchFamily="34" charset="0"/>
            </a:endParaRPr>
          </a:p>
        </p:txBody>
      </p:sp>
      <p:sp>
        <p:nvSpPr>
          <p:cNvPr id="5" name="文本框 4"/>
          <p:cNvSpPr txBox="1"/>
          <p:nvPr/>
        </p:nvSpPr>
        <p:spPr>
          <a:xfrm>
            <a:off x="1351306" y="3755404"/>
            <a:ext cx="9255734" cy="584775"/>
          </a:xfrm>
          <a:prstGeom prst="rect">
            <a:avLst/>
          </a:prstGeom>
          <a:noFill/>
        </p:spPr>
        <p:txBody>
          <a:bodyPr wrap="square" rtlCol="0">
            <a:spAutoFit/>
          </a:bodyPr>
          <a:lstStyle/>
          <a:p>
            <a:pPr algn="ctr"/>
            <a:r>
              <a:rPr lang="zh-CN" altLang="en-US" sz="3200" b="1" dirty="0">
                <a:solidFill>
                  <a:srgbClr val="2517DF"/>
                </a:solidFill>
                <a:latin typeface="黑体" panose="02010609060101010101" charset="-122"/>
                <a:ea typeface="黑体" panose="02010609060101010101" charset="-122"/>
                <a:cs typeface="Times New Roman" panose="02020603050405020304" pitchFamily="18" charset="0"/>
                <a:sym typeface="Adobe 黑体 Std"/>
              </a:rPr>
              <a:t>陆叶</a:t>
            </a:r>
            <a:endParaRPr lang="en-US" altLang="zh-CN" sz="3200" b="1" dirty="0">
              <a:solidFill>
                <a:srgbClr val="2517DF"/>
              </a:solidFill>
              <a:latin typeface="黑体" panose="02010609060101010101" charset="-122"/>
              <a:ea typeface="黑体" panose="02010609060101010101" charset="-122"/>
              <a:cs typeface="Times New Roman" panose="02020603050405020304" pitchFamily="18" charset="0"/>
              <a:sym typeface="Adobe 黑体 St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9375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dobe 黑体 Std"/>
              <a:ea typeface="微软雅黑" panose="020B0503020204020204" pitchFamily="34" charset="-122"/>
              <a:sym typeface="Adobe 黑体 Std"/>
            </a:endParaRPr>
          </a:p>
        </p:txBody>
      </p:sp>
      <p:sp>
        <p:nvSpPr>
          <p:cNvPr id="5" name="文本框 4"/>
          <p:cNvSpPr txBox="1"/>
          <p:nvPr/>
        </p:nvSpPr>
        <p:spPr>
          <a:xfrm>
            <a:off x="113231" y="21699"/>
            <a:ext cx="1005403" cy="584775"/>
          </a:xfrm>
          <a:prstGeom prst="rect">
            <a:avLst/>
          </a:prstGeom>
          <a:noFill/>
        </p:spPr>
        <p:txBody>
          <a:bodyPr wrap="none" rtlCol="0">
            <a:spAutoFit/>
          </a:bodyPr>
          <a:lstStyle/>
          <a:p>
            <a:r>
              <a:rPr lang="zh-CN" altLang="en-US" sz="3200" b="1" dirty="0">
                <a:latin typeface="Adobe 黑体 Std"/>
                <a:ea typeface="微软雅黑" panose="020B0503020204020204" pitchFamily="34" charset="-122"/>
                <a:cs typeface="Times New Roman" panose="02020603050405020304" pitchFamily="18" charset="0"/>
                <a:sym typeface="Adobe 黑体 Std"/>
              </a:rPr>
              <a:t>目录</a:t>
            </a:r>
          </a:p>
        </p:txBody>
      </p:sp>
      <p:sp>
        <p:nvSpPr>
          <p:cNvPr id="8" name="文本框 7"/>
          <p:cNvSpPr txBox="1"/>
          <p:nvPr/>
        </p:nvSpPr>
        <p:spPr>
          <a:xfrm>
            <a:off x="541397" y="720322"/>
            <a:ext cx="9379491" cy="4401205"/>
          </a:xfrm>
          <a:prstGeom prst="rect">
            <a:avLst/>
          </a:prstGeom>
          <a:noFill/>
        </p:spPr>
        <p:txBody>
          <a:bodyPr wrap="none" rtlCol="0">
            <a:spAutoFit/>
          </a:bodyPr>
          <a:lstStyle/>
          <a:p>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研究总述</a:t>
            </a: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基于</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TCAD SProcess</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的工艺仿真流程</a:t>
            </a: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r>
              <a:rPr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sym typeface="Adobe 黑体 Std"/>
              </a:rPr>
              <a:t>FinFET</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 </a:t>
            </a:r>
            <a:r>
              <a:rPr lang="zh-CN" altLang="en-US" sz="2800" b="1" dirty="0">
                <a:latin typeface="Arial" panose="020B0604020202020204" pitchFamily="34" charset="0"/>
                <a:ea typeface="微软雅黑" panose="020B0503020204020204" pitchFamily="34" charset="-122"/>
                <a:cs typeface="Arial" panose="020B0604020202020204" pitchFamily="34" charset="0"/>
                <a:sym typeface="Adobe 黑体 Std"/>
              </a:rPr>
              <a:t>多</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尺度求解方案</a:t>
            </a: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DC-NEGF</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技术的开发</a:t>
            </a: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pPr marL="285750" indent="-285750">
              <a:buFont typeface="Arial" panose="020B0604020202020204" pitchFamily="34" charset="0"/>
              <a:buChar cha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基于</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TCAD </a:t>
            </a:r>
            <a:r>
              <a:rPr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sym typeface="Adobe 黑体 Std"/>
              </a:rPr>
              <a:t>SDeivce</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a:t>
            </a:r>
            <a:r>
              <a:rPr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sym typeface="Adobe 黑体 Std"/>
              </a:rPr>
              <a:t>FinFET</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的物理模型与电学特性校准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9375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p:txBody>
      </p:sp>
      <p:sp>
        <p:nvSpPr>
          <p:cNvPr id="5" name="文本框 4"/>
          <p:cNvSpPr txBox="1"/>
          <p:nvPr/>
        </p:nvSpPr>
        <p:spPr>
          <a:xfrm>
            <a:off x="113231" y="21699"/>
            <a:ext cx="1826141" cy="584775"/>
          </a:xfrm>
          <a:prstGeom prst="rect">
            <a:avLst/>
          </a:prstGeom>
          <a:noFill/>
        </p:spPr>
        <p:txBody>
          <a:bodyPr wrap="none" rtlCol="0">
            <a:spAutoFit/>
          </a:bodyPr>
          <a:lstStyle/>
          <a:p>
            <a:pPr algn="l"/>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研究总述</a:t>
            </a:r>
          </a:p>
        </p:txBody>
      </p:sp>
      <p:sp>
        <p:nvSpPr>
          <p:cNvPr id="8" name="文本框 7"/>
          <p:cNvSpPr txBox="1"/>
          <p:nvPr/>
        </p:nvSpPr>
        <p:spPr>
          <a:xfrm>
            <a:off x="113231" y="723966"/>
            <a:ext cx="4024630" cy="521970"/>
          </a:xfrm>
          <a:prstGeom prst="rect">
            <a:avLst/>
          </a:prstGeom>
          <a:noFill/>
        </p:spPr>
        <p:txBody>
          <a:bodyPr wrap="none" rtlCol="0">
            <a:spAutoFit/>
          </a:bodyPr>
          <a:lstStyle/>
          <a:p>
            <a:pPr marL="285750" indent="-285750" algn="l">
              <a:buFont typeface="Arial" panose="020B0604020202020204" pitchFamily="34" charset="0"/>
              <a:buChar cha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研究总述</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项目进展</a:t>
            </a:r>
          </a:p>
        </p:txBody>
      </p:sp>
      <p:sp>
        <p:nvSpPr>
          <p:cNvPr id="6" name="文本框 5"/>
          <p:cNvSpPr txBox="1"/>
          <p:nvPr/>
        </p:nvSpPr>
        <p:spPr>
          <a:xfrm>
            <a:off x="338056" y="1260644"/>
            <a:ext cx="11059160" cy="2708275"/>
          </a:xfrm>
          <a:prstGeom prst="rect">
            <a:avLst/>
          </a:prstGeom>
          <a:noFill/>
        </p:spPr>
        <p:txBody>
          <a:bodyPr wrap="square" anchor="t">
            <a:noAutofit/>
          </a:bodyPr>
          <a:lstStyle/>
          <a:p>
            <a:pPr defTabSz="266700">
              <a:lnSpc>
                <a:spcPct val="120000"/>
              </a:lnSpc>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目前研究团队基于图</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流程开展工作，主要取得了如下进展：</a:t>
            </a:r>
            <a:endPar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defTabSz="266700">
              <a:lnSpc>
                <a:spcPct val="120000"/>
              </a:lnSpc>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）基于后栅工艺和高</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k</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金属栅等核心工艺完成</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7 nm </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工艺</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仿真。</a:t>
            </a:r>
            <a:endPar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defTabSz="266700">
              <a:lnSpc>
                <a:spcPct val="120000"/>
              </a:lnSpc>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）针对 </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的三维几何结构，构建了基于有限差分法的全实空间耦合 </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DC-NEGF </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第一性原理计算程序，为后续开展更大大尺度、高精度</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AC-NEGF</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计算奠定了基础。后续</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AC-NEGF</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第一性仿真结果会用来进一步校准</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的</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高频电学特性仿真。</a:t>
            </a:r>
            <a:endPar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defTabSz="266700">
              <a:lnSpc>
                <a:spcPct val="120000"/>
              </a:lnSpc>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）根据文献中报道的实验数据</a:t>
            </a:r>
            <a:r>
              <a:rPr lang="en-US" altLang="zh-CN" b="1" baseline="3000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，对</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器件</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电学特性仿真模型进行校准。校准后的模型可用于进一步研究工艺参数对</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高频寄生机理的研究。</a:t>
            </a:r>
          </a:p>
        </p:txBody>
      </p:sp>
      <p:sp>
        <p:nvSpPr>
          <p:cNvPr id="9" name="矩形 8"/>
          <p:cNvSpPr/>
          <p:nvPr/>
        </p:nvSpPr>
        <p:spPr>
          <a:xfrm>
            <a:off x="0" y="6425565"/>
            <a:ext cx="12192635" cy="475615"/>
          </a:xfrm>
          <a:prstGeom prst="rect">
            <a:avLst/>
          </a:prstGeom>
          <a:solidFill>
            <a:srgbClr val="0000C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indent="0" algn="just">
              <a:lnSpc>
                <a:spcPct val="90000"/>
              </a:lnSpc>
            </a:pPr>
            <a:r>
              <a:rPr lang="en-US" altLang="zh-CN" sz="14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 Q. Huo, Z. Wu, F. Zhang and L. Li, "A Modeling Approach for 7nm Technology Node Area-Consuming Circuit Optimization and Beyond,"</a:t>
            </a:r>
            <a:r>
              <a:rPr lang="en-US" altLang="en-US" sz="14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14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2019 16th International Conference on Synthesis, Modeling, Analysis and Simulation Methods and Applications to Circuit Design (SMACD), Lausanne, Switzerland, 2019, pp. 93-96</a:t>
            </a:r>
            <a:endParaRPr lang="en-US" altLang="zh-CN" sz="1600">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11" name="文本框 10"/>
          <p:cNvSpPr txBox="1"/>
          <p:nvPr/>
        </p:nvSpPr>
        <p:spPr>
          <a:xfrm>
            <a:off x="1434018" y="4608844"/>
            <a:ext cx="1103637" cy="612000"/>
          </a:xfrm>
          <a:prstGeom prst="rect">
            <a:avLst/>
          </a:prstGeom>
          <a:noFill/>
          <a:ln w="28575" cmpd="sng">
            <a:solidFill>
              <a:schemeClr val="tx1"/>
            </a:solidFill>
            <a:prstDash val="solid"/>
          </a:ln>
        </p:spPr>
        <p:txBody>
          <a:bodyPr wrap="square" rtlCol="0">
            <a:noAutofit/>
          </a:bodyPr>
          <a:lstStyle/>
          <a:p>
            <a:pPr algn="ctr">
              <a:lnSpc>
                <a:spcPct val="100000"/>
              </a:lnSpc>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TCAD</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工艺仿真</a:t>
            </a:r>
          </a:p>
        </p:txBody>
      </p:sp>
      <p:sp>
        <p:nvSpPr>
          <p:cNvPr id="45" name="文本框 44"/>
          <p:cNvSpPr txBox="1"/>
          <p:nvPr/>
        </p:nvSpPr>
        <p:spPr>
          <a:xfrm>
            <a:off x="3098713" y="5382810"/>
            <a:ext cx="1470722" cy="337186"/>
          </a:xfrm>
          <a:prstGeom prst="rect">
            <a:avLst/>
          </a:prstGeom>
          <a:noFill/>
          <a:ln w="28575" cmpd="sng">
            <a:solidFill>
              <a:schemeClr val="tx1"/>
            </a:solidFill>
            <a:prstDash val="solid"/>
          </a:ln>
        </p:spPr>
        <p:txBody>
          <a:bodyPr wrap="square" rtlCol="0">
            <a:noAutofit/>
          </a:bodyPr>
          <a:lstStyle/>
          <a:p>
            <a:pPr algn="ctr">
              <a:lnSpc>
                <a:spcPct val="100000"/>
              </a:lnSpc>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物理参数校准</a:t>
            </a:r>
          </a:p>
        </p:txBody>
      </p:sp>
      <p:sp>
        <p:nvSpPr>
          <p:cNvPr id="56" name="文本框 55"/>
          <p:cNvSpPr txBox="1"/>
          <p:nvPr/>
        </p:nvSpPr>
        <p:spPr>
          <a:xfrm>
            <a:off x="2952305" y="5850144"/>
            <a:ext cx="1617130" cy="337185"/>
          </a:xfrm>
          <a:prstGeom prst="rect">
            <a:avLst/>
          </a:prstGeom>
          <a:noFill/>
          <a:ln w="28575" cmpd="sng">
            <a:solidFill>
              <a:schemeClr val="tx1"/>
            </a:solidFill>
            <a:prstDash val="solid"/>
          </a:ln>
        </p:spPr>
        <p:txBody>
          <a:bodyPr wrap="square" rtlCol="0">
            <a:noAutofit/>
          </a:bodyPr>
          <a:lstStyle/>
          <a:p>
            <a:pPr algn="ctr">
              <a:lnSpc>
                <a:spcPct val="90000"/>
              </a:lnSpc>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NEGF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输运校准</a:t>
            </a:r>
          </a:p>
        </p:txBody>
      </p:sp>
      <p:sp>
        <p:nvSpPr>
          <p:cNvPr id="59" name="文本框 58"/>
          <p:cNvSpPr txBox="1"/>
          <p:nvPr/>
        </p:nvSpPr>
        <p:spPr>
          <a:xfrm>
            <a:off x="5639796" y="4608844"/>
            <a:ext cx="2779220" cy="612000"/>
          </a:xfrm>
          <a:prstGeom prst="rect">
            <a:avLst/>
          </a:prstGeom>
          <a:noFill/>
          <a:ln w="28575" cmpd="sng">
            <a:solidFill>
              <a:schemeClr val="tx1"/>
            </a:solidFill>
            <a:prstDash val="solid"/>
          </a:ln>
        </p:spPr>
        <p:txBody>
          <a:bodyPr wrap="square" rtlCol="0">
            <a:noAutofit/>
          </a:bodyPr>
          <a:lstStyle/>
          <a:p>
            <a:pPr algn="ctr">
              <a:lnSpc>
                <a:spcPct val="100000"/>
              </a:lnSpc>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揭示并建立</a:t>
            </a:r>
            <a:r>
              <a:rPr lang="en-US" altLang="zh-CN" sz="1600" b="1" dirty="0" err="1">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工艺与器件特性的定量关系</a:t>
            </a:r>
          </a:p>
        </p:txBody>
      </p:sp>
      <p:sp>
        <p:nvSpPr>
          <p:cNvPr id="63" name="文本框 62"/>
          <p:cNvSpPr txBox="1"/>
          <p:nvPr/>
        </p:nvSpPr>
        <p:spPr>
          <a:xfrm>
            <a:off x="8734831" y="4608844"/>
            <a:ext cx="1474470" cy="612000"/>
          </a:xfrm>
          <a:prstGeom prst="rect">
            <a:avLst/>
          </a:prstGeom>
          <a:noFill/>
          <a:ln w="28575" cmpd="sng">
            <a:solidFill>
              <a:schemeClr val="tx1"/>
            </a:solidFill>
            <a:prstDash val="solid"/>
          </a:ln>
        </p:spPr>
        <p:txBody>
          <a:bodyPr wrap="square" rtlCol="0">
            <a:noAutofit/>
          </a:bodyPr>
          <a:lstStyle/>
          <a:p>
            <a:pPr algn="ctr">
              <a:lnSpc>
                <a:spcPct val="100000"/>
              </a:lnSpc>
            </a:pPr>
            <a:r>
              <a:rPr lang="en-US" altLang="zh-CN" sz="1600" b="1" dirty="0" err="1">
                <a:latin typeface="Times New Roman" panose="02020603050405020304" pitchFamily="18" charset="0"/>
                <a:ea typeface="微软雅黑" panose="020B0503020204020204" pitchFamily="34" charset="-122"/>
                <a:cs typeface="Times New Roman" panose="02020603050405020304" pitchFamily="18" charset="0"/>
              </a:rPr>
              <a:t>FinFET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高频紧凑模型</a:t>
            </a:r>
          </a:p>
        </p:txBody>
      </p:sp>
      <p:sp>
        <p:nvSpPr>
          <p:cNvPr id="66" name="文本框 65"/>
          <p:cNvSpPr txBox="1"/>
          <p:nvPr/>
        </p:nvSpPr>
        <p:spPr>
          <a:xfrm>
            <a:off x="-220144" y="5850144"/>
            <a:ext cx="2299970" cy="337185"/>
          </a:xfrm>
          <a:prstGeom prst="rect">
            <a:avLst/>
          </a:prstGeom>
          <a:noFill/>
        </p:spPr>
        <p:txBody>
          <a:bodyPr wrap="square" rtlCol="0" anchor="t">
            <a:spAutoFit/>
          </a:bodyPr>
          <a:lstStyle/>
          <a:p>
            <a:pPr algn="ct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图</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1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项目流程</a:t>
            </a:r>
          </a:p>
        </p:txBody>
      </p:sp>
      <p:sp>
        <p:nvSpPr>
          <p:cNvPr id="12" name="文本框 11">
            <a:extLst>
              <a:ext uri="{FF2B5EF4-FFF2-40B4-BE49-F238E27FC236}">
                <a16:creationId xmlns:a16="http://schemas.microsoft.com/office/drawing/2014/main" id="{E576D4EE-6E54-36B8-08EE-8F46DF7FBE3E}"/>
              </a:ext>
            </a:extLst>
          </p:cNvPr>
          <p:cNvSpPr txBox="1"/>
          <p:nvPr/>
        </p:nvSpPr>
        <p:spPr>
          <a:xfrm>
            <a:off x="3442812" y="4608844"/>
            <a:ext cx="1126623" cy="612000"/>
          </a:xfrm>
          <a:prstGeom prst="rect">
            <a:avLst/>
          </a:prstGeom>
          <a:noFill/>
          <a:ln w="28575" cmpd="sng">
            <a:solidFill>
              <a:schemeClr val="tx1"/>
            </a:solidFill>
            <a:prstDash val="solid"/>
          </a:ln>
        </p:spPr>
        <p:txBody>
          <a:bodyPr wrap="square" rtlCol="0">
            <a:noAutofit/>
          </a:bodyPr>
          <a:lstStyle/>
          <a:p>
            <a:pPr algn="ctr">
              <a:lnSpc>
                <a:spcPct val="100000"/>
              </a:lnSpc>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TCAD</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器件仿真</a:t>
            </a:r>
          </a:p>
        </p:txBody>
      </p:sp>
      <p:cxnSp>
        <p:nvCxnSpPr>
          <p:cNvPr id="14" name="直接箭头连接符 13">
            <a:extLst>
              <a:ext uri="{FF2B5EF4-FFF2-40B4-BE49-F238E27FC236}">
                <a16:creationId xmlns:a16="http://schemas.microsoft.com/office/drawing/2014/main" id="{95218CC7-5C92-D74C-B793-D55E69708767}"/>
              </a:ext>
            </a:extLst>
          </p:cNvPr>
          <p:cNvCxnSpPr>
            <a:cxnSpLocks/>
            <a:endCxn id="12" idx="1"/>
          </p:cNvCxnSpPr>
          <p:nvPr/>
        </p:nvCxnSpPr>
        <p:spPr>
          <a:xfrm>
            <a:off x="2537655" y="4914844"/>
            <a:ext cx="90515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5CBE695F-97F3-6766-E257-E908E0181F1B}"/>
              </a:ext>
            </a:extLst>
          </p:cNvPr>
          <p:cNvCxnSpPr>
            <a:cxnSpLocks/>
            <a:stCxn id="12" idx="3"/>
            <a:endCxn id="59" idx="1"/>
          </p:cNvCxnSpPr>
          <p:nvPr/>
        </p:nvCxnSpPr>
        <p:spPr>
          <a:xfrm>
            <a:off x="4569435" y="4914844"/>
            <a:ext cx="10703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C41DC6EE-5B8B-AB1D-87BA-FB52DDEFC62A}"/>
              </a:ext>
            </a:extLst>
          </p:cNvPr>
          <p:cNvCxnSpPr>
            <a:cxnSpLocks/>
            <a:stCxn id="59" idx="3"/>
            <a:endCxn id="63" idx="1"/>
          </p:cNvCxnSpPr>
          <p:nvPr/>
        </p:nvCxnSpPr>
        <p:spPr>
          <a:xfrm>
            <a:off x="8419016" y="4914844"/>
            <a:ext cx="3158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7C408DA8-09E1-0C80-AF75-7DF71337568D}"/>
              </a:ext>
            </a:extLst>
          </p:cNvPr>
          <p:cNvCxnSpPr>
            <a:cxnSpLocks/>
          </p:cNvCxnSpPr>
          <p:nvPr/>
        </p:nvCxnSpPr>
        <p:spPr>
          <a:xfrm flipV="1">
            <a:off x="2616796" y="4897720"/>
            <a:ext cx="402776" cy="11210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9E34D05-B17E-2082-BE10-7BF8DEE829AE}"/>
              </a:ext>
            </a:extLst>
          </p:cNvPr>
          <p:cNvCxnSpPr>
            <a:cxnSpLocks/>
            <a:stCxn id="45" idx="1"/>
          </p:cNvCxnSpPr>
          <p:nvPr/>
        </p:nvCxnSpPr>
        <p:spPr>
          <a:xfrm flipH="1">
            <a:off x="2781300" y="5551403"/>
            <a:ext cx="317413"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69E33958-6F13-0A42-6F46-EA70B80FAF63}"/>
              </a:ext>
            </a:extLst>
          </p:cNvPr>
          <p:cNvCxnSpPr>
            <a:cxnSpLocks/>
          </p:cNvCxnSpPr>
          <p:nvPr/>
        </p:nvCxnSpPr>
        <p:spPr>
          <a:xfrm flipH="1">
            <a:off x="2605062" y="6018737"/>
            <a:ext cx="324000"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91029AE2-E0AD-940E-CC4C-8EDFB45460C0}"/>
              </a:ext>
            </a:extLst>
          </p:cNvPr>
          <p:cNvCxnSpPr>
            <a:cxnSpLocks/>
          </p:cNvCxnSpPr>
          <p:nvPr/>
        </p:nvCxnSpPr>
        <p:spPr>
          <a:xfrm flipV="1">
            <a:off x="4917282" y="4896219"/>
            <a:ext cx="402776" cy="11210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476C29D6-044F-1720-179F-D5F469B2FC65}"/>
              </a:ext>
            </a:extLst>
          </p:cNvPr>
          <p:cNvCxnSpPr>
            <a:cxnSpLocks/>
          </p:cNvCxnSpPr>
          <p:nvPr/>
        </p:nvCxnSpPr>
        <p:spPr>
          <a:xfrm flipH="1">
            <a:off x="5067300" y="5551403"/>
            <a:ext cx="144780"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F9EF2FFE-780F-3014-633D-61F9C701020C}"/>
              </a:ext>
            </a:extLst>
          </p:cNvPr>
          <p:cNvCxnSpPr>
            <a:cxnSpLocks/>
          </p:cNvCxnSpPr>
          <p:nvPr/>
        </p:nvCxnSpPr>
        <p:spPr>
          <a:xfrm flipH="1">
            <a:off x="4932522" y="6009860"/>
            <a:ext cx="249078"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E3BE0C9C-E98E-465D-26B6-65BC77DA0821}"/>
              </a:ext>
            </a:extLst>
          </p:cNvPr>
          <p:cNvSpPr txBox="1"/>
          <p:nvPr/>
        </p:nvSpPr>
        <p:spPr>
          <a:xfrm>
            <a:off x="5219700" y="5375190"/>
            <a:ext cx="3231171" cy="337186"/>
          </a:xfrm>
          <a:prstGeom prst="rect">
            <a:avLst/>
          </a:prstGeom>
          <a:noFill/>
          <a:ln w="28575" cmpd="sng">
            <a:solidFill>
              <a:schemeClr val="tx1"/>
            </a:solidFill>
            <a:prstDash val="solid"/>
          </a:ln>
        </p:spPr>
        <p:txBody>
          <a:bodyPr wrap="square" rtlCol="0">
            <a:noAutofit/>
          </a:bodyPr>
          <a:lstStyle/>
          <a:p>
            <a:pPr algn="ctr">
              <a:lnSpc>
                <a:spcPct val="100000"/>
              </a:lnSpc>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跨尺度下具有量子修正的高频特性</a:t>
            </a:r>
          </a:p>
        </p:txBody>
      </p:sp>
      <p:sp>
        <p:nvSpPr>
          <p:cNvPr id="70" name="文本框 69">
            <a:extLst>
              <a:ext uri="{FF2B5EF4-FFF2-40B4-BE49-F238E27FC236}">
                <a16:creationId xmlns:a16="http://schemas.microsoft.com/office/drawing/2014/main" id="{35AEB7BD-EEE3-6B48-0F2F-6C5F74F7B139}"/>
              </a:ext>
            </a:extLst>
          </p:cNvPr>
          <p:cNvSpPr txBox="1"/>
          <p:nvPr/>
        </p:nvSpPr>
        <p:spPr>
          <a:xfrm>
            <a:off x="5204460" y="5833647"/>
            <a:ext cx="3246411" cy="337186"/>
          </a:xfrm>
          <a:prstGeom prst="rect">
            <a:avLst/>
          </a:prstGeom>
          <a:noFill/>
          <a:ln w="28575" cmpd="sng">
            <a:solidFill>
              <a:schemeClr val="tx1"/>
            </a:solidFill>
            <a:prstDash val="solid"/>
          </a:ln>
        </p:spPr>
        <p:txBody>
          <a:bodyPr wrap="square" rtlCol="0">
            <a:noAutofit/>
          </a:bodyPr>
          <a:lstStyle/>
          <a:p>
            <a:pPr algn="ctr">
              <a:lnSpc>
                <a:spcPct val="100000"/>
              </a:lnSpc>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自热、应力等多物理场下性能变化</a:t>
            </a:r>
          </a:p>
        </p:txBody>
      </p:sp>
      <p:cxnSp>
        <p:nvCxnSpPr>
          <p:cNvPr id="76" name="连接符: 肘形 75">
            <a:extLst>
              <a:ext uri="{FF2B5EF4-FFF2-40B4-BE49-F238E27FC236}">
                <a16:creationId xmlns:a16="http://schemas.microsoft.com/office/drawing/2014/main" id="{6C58C255-693E-B3F1-3C3F-97E6BA8F8792}"/>
              </a:ext>
            </a:extLst>
          </p:cNvPr>
          <p:cNvCxnSpPr>
            <a:stCxn id="63" idx="3"/>
            <a:endCxn id="11" idx="1"/>
          </p:cNvCxnSpPr>
          <p:nvPr/>
        </p:nvCxnSpPr>
        <p:spPr>
          <a:xfrm flipH="1">
            <a:off x="1434018" y="4914844"/>
            <a:ext cx="8775283" cy="12700"/>
          </a:xfrm>
          <a:prstGeom prst="bentConnector5">
            <a:avLst>
              <a:gd name="adj1" fmla="val -2605"/>
              <a:gd name="adj2" fmla="val -5870551"/>
              <a:gd name="adj3" fmla="val 10260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4784575" y="3912980"/>
            <a:ext cx="2294405" cy="483014"/>
          </a:xfrm>
          <a:prstGeom prst="rect">
            <a:avLst/>
          </a:prstGeom>
          <a:solidFill>
            <a:schemeClr val="bg1"/>
          </a:solidFill>
          <a:ln w="28575" cmpd="sng">
            <a:solidFill>
              <a:schemeClr val="tx1"/>
            </a:solidFill>
            <a:prstDash val="solid"/>
          </a:ln>
        </p:spPr>
        <p:txBody>
          <a:bodyPr wrap="square" rtlCol="0">
            <a:noAutofit/>
          </a:bodyPr>
          <a:lstStyle/>
          <a:p>
            <a:pPr algn="ctr">
              <a:lnSpc>
                <a:spcPct val="150000"/>
              </a:lnSpc>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工艺</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设计协同优化</a:t>
            </a:r>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9375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dobe 黑体 Std"/>
              <a:ea typeface="微软雅黑" panose="020B0503020204020204" pitchFamily="34" charset="-122"/>
              <a:sym typeface="Adobe 黑体 Std"/>
            </a:endParaRPr>
          </a:p>
        </p:txBody>
      </p:sp>
      <p:sp>
        <p:nvSpPr>
          <p:cNvPr id="5" name="文本框 4"/>
          <p:cNvSpPr txBox="1"/>
          <p:nvPr/>
        </p:nvSpPr>
        <p:spPr>
          <a:xfrm>
            <a:off x="113231" y="21699"/>
            <a:ext cx="6688626" cy="584775"/>
          </a:xfrm>
          <a:prstGeom prst="rect">
            <a:avLst/>
          </a:prstGeom>
          <a:noFill/>
        </p:spPr>
        <p:txBody>
          <a:bodyPr wrap="none" rtlCol="0">
            <a:spAutoFit/>
          </a:bodyPr>
          <a:lstStyle/>
          <a:p>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基于</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TCAD SProcess</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的工艺仿真流程</a:t>
            </a:r>
            <a:endPar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p:txBody>
      </p:sp>
      <p:sp>
        <p:nvSpPr>
          <p:cNvPr id="2" name="文本框 7"/>
          <p:cNvSpPr txBox="1"/>
          <p:nvPr/>
        </p:nvSpPr>
        <p:spPr>
          <a:xfrm>
            <a:off x="113231" y="723966"/>
            <a:ext cx="8590915" cy="521970"/>
          </a:xfrm>
          <a:prstGeom prst="rect">
            <a:avLst/>
          </a:prstGeom>
          <a:noFill/>
        </p:spPr>
        <p:txBody>
          <a:bodyPr wrap="none" rtlCol="0">
            <a:spAutoFit/>
          </a:bodyPr>
          <a:lstStyle/>
          <a:p>
            <a:pPr marL="285750" indent="-285750" algn="l">
              <a:buFont typeface="Arial" panose="020B0604020202020204" pitchFamily="34" charset="0"/>
              <a:buChar char="•"/>
            </a:pP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TCAD</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工艺仿真搭建</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——7 nm FinFET </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工艺仿真流程</a:t>
            </a:r>
          </a:p>
        </p:txBody>
      </p:sp>
      <p:pic>
        <p:nvPicPr>
          <p:cNvPr id="8" name="图片 2" descr="IMG_256"/>
          <p:cNvPicPr>
            <a:picLocks noChangeAspect="1"/>
          </p:cNvPicPr>
          <p:nvPr/>
        </p:nvPicPr>
        <p:blipFill>
          <a:blip r:embed="rId3"/>
          <a:stretch>
            <a:fillRect/>
          </a:stretch>
        </p:blipFill>
        <p:spPr>
          <a:xfrm>
            <a:off x="953770" y="1364615"/>
            <a:ext cx="6417945" cy="4692650"/>
          </a:xfrm>
          <a:prstGeom prst="rect">
            <a:avLst/>
          </a:prstGeom>
          <a:noFill/>
          <a:ln w="9525">
            <a:noFill/>
          </a:ln>
        </p:spPr>
      </p:pic>
      <p:sp>
        <p:nvSpPr>
          <p:cNvPr id="10" name="文本框 9"/>
          <p:cNvSpPr txBox="1"/>
          <p:nvPr/>
        </p:nvSpPr>
        <p:spPr>
          <a:xfrm>
            <a:off x="1115060" y="6096635"/>
            <a:ext cx="6096000" cy="337185"/>
          </a:xfrm>
          <a:prstGeom prst="rect">
            <a:avLst/>
          </a:prstGeom>
          <a:noFill/>
        </p:spPr>
        <p:txBody>
          <a:bodyPr wrap="square" rtlCol="0" anchor="t">
            <a:spAutoFit/>
          </a:bodyPr>
          <a:lstStyle/>
          <a:p>
            <a:pPr algn="ct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mn-ea"/>
              </a:rPr>
              <a:t>图</a:t>
            </a:r>
            <a:r>
              <a:rPr lang="en-US" sz="1600" b="1">
                <a:latin typeface="Times New Roman" panose="02020603050405020304" pitchFamily="18" charset="0"/>
                <a:ea typeface="微软雅黑" panose="020B0503020204020204" pitchFamily="34" charset="-122"/>
                <a:cs typeface="Times New Roman" panose="02020603050405020304" pitchFamily="18" charset="0"/>
                <a:sym typeface="+mn-ea"/>
              </a:rPr>
              <a:t>2 FinFET</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mn-ea"/>
              </a:rPr>
              <a:t>工艺仿真流程</a:t>
            </a:r>
          </a:p>
        </p:txBody>
      </p:sp>
      <p:sp>
        <p:nvSpPr>
          <p:cNvPr id="13" name="文本框 12"/>
          <p:cNvSpPr txBox="1"/>
          <p:nvPr/>
        </p:nvSpPr>
        <p:spPr>
          <a:xfrm>
            <a:off x="8279130" y="1428750"/>
            <a:ext cx="2893695" cy="337185"/>
          </a:xfrm>
          <a:prstGeom prst="rect">
            <a:avLst/>
          </a:prstGeom>
          <a:noFill/>
        </p:spPr>
        <p:txBody>
          <a:bodyPr wrap="square" rtlCol="0" anchor="t">
            <a:spAutoFit/>
          </a:bodyPr>
          <a:lstStyle/>
          <a:p>
            <a:pPr algn="ct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mn-ea"/>
              </a:rPr>
              <a:t>表</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en-US" sz="1600" b="1">
                <a:latin typeface="Times New Roman" panose="02020603050405020304" pitchFamily="18" charset="0"/>
                <a:ea typeface="微软雅黑" panose="020B0503020204020204" pitchFamily="34" charset="-122"/>
                <a:cs typeface="Times New Roman" panose="02020603050405020304" pitchFamily="18" charset="0"/>
                <a:sym typeface="+mn-ea"/>
              </a:rPr>
              <a:t> FinFET</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mn-ea"/>
              </a:rPr>
              <a:t>核心工艺参数</a:t>
            </a:r>
          </a:p>
        </p:txBody>
      </p:sp>
      <p:graphicFrame>
        <p:nvGraphicFramePr>
          <p:cNvPr id="14" name="表格 13"/>
          <p:cNvGraphicFramePr/>
          <p:nvPr>
            <p:custDataLst>
              <p:tags r:id="rId1"/>
            </p:custDataLst>
          </p:nvPr>
        </p:nvGraphicFramePr>
        <p:xfrm>
          <a:off x="7625715" y="1826895"/>
          <a:ext cx="4199890" cy="4606925"/>
        </p:xfrm>
        <a:graphic>
          <a:graphicData uri="http://schemas.openxmlformats.org/drawingml/2006/table">
            <a:tbl>
              <a:tblPr firstRow="1" bandRow="1">
                <a:tableStyleId>{5C22544A-7EE6-4342-B048-85BDC9FD1C3A}</a:tableStyleId>
              </a:tblPr>
              <a:tblGrid>
                <a:gridCol w="2099945">
                  <a:extLst>
                    <a:ext uri="{9D8B030D-6E8A-4147-A177-3AD203B41FA5}">
                      <a16:colId xmlns:a16="http://schemas.microsoft.com/office/drawing/2014/main" val="20000"/>
                    </a:ext>
                  </a:extLst>
                </a:gridCol>
                <a:gridCol w="2099945">
                  <a:extLst>
                    <a:ext uri="{9D8B030D-6E8A-4147-A177-3AD203B41FA5}">
                      <a16:colId xmlns:a16="http://schemas.microsoft.com/office/drawing/2014/main" val="20001"/>
                    </a:ext>
                  </a:extLst>
                </a:gridCol>
              </a:tblGrid>
              <a:tr h="921385">
                <a:tc>
                  <a:txBody>
                    <a:bodyPr/>
                    <a:lstStyle/>
                    <a:p>
                      <a:pPr indent="0" algn="ctr" fontAlgn="auto">
                        <a:lnSpc>
                          <a:spcPct val="120000"/>
                        </a:lnSpc>
                        <a:buNone/>
                      </a:pPr>
                      <a:r>
                        <a:rPr lang="en-US" altLang="zh-CN" sz="1800" b="1">
                          <a:solidFill>
                            <a:schemeClr val="tx1"/>
                          </a:solidFill>
                          <a:latin typeface="Times New Roman" panose="02020603050405020304" pitchFamily="18" charset="0"/>
                          <a:cs typeface="Times New Roman" panose="02020603050405020304" pitchFamily="18" charset="0"/>
                          <a:sym typeface="+mn-ea"/>
                        </a:rPr>
                        <a:t>Fin Height</a:t>
                      </a:r>
                      <a:endParaRPr lang="en-US" altLang="zh-CN" sz="1800" b="1">
                        <a:solidFill>
                          <a:schemeClr val="tx1"/>
                        </a:solidFill>
                        <a:latin typeface="Times New Roman" panose="02020603050405020304" pitchFamily="18" charset="0"/>
                        <a:cs typeface="Times New Roman" panose="02020603050405020304" pitchFamily="18" charset="0"/>
                      </a:endParaRPr>
                    </a:p>
                    <a:p>
                      <a:pPr indent="0" algn="ctr" fontAlgn="auto">
                        <a:lnSpc>
                          <a:spcPct val="120000"/>
                        </a:lnSpc>
                        <a:buNone/>
                      </a:pPr>
                      <a:r>
                        <a:rPr lang="en-US" altLang="zh-CN" sz="1800" b="1">
                          <a:solidFill>
                            <a:schemeClr val="tx1"/>
                          </a:solidFill>
                          <a:latin typeface="Times New Roman" panose="02020603050405020304" pitchFamily="18" charset="0"/>
                          <a:cs typeface="Times New Roman" panose="02020603050405020304" pitchFamily="18" charset="0"/>
                          <a:sym typeface="+mn-ea"/>
                        </a:rPr>
                        <a:t>(nm)</a:t>
                      </a:r>
                    </a:p>
                  </a:txBody>
                  <a:tcPr anchor="ctr">
                    <a:solidFill>
                      <a:schemeClr val="accent1">
                        <a:lumMod val="20000"/>
                        <a:lumOff val="80000"/>
                      </a:schemeClr>
                    </a:solidFill>
                  </a:tcPr>
                </a:tc>
                <a:tc>
                  <a:txBody>
                    <a:bodyPr/>
                    <a:lstStyle/>
                    <a:p>
                      <a:pPr algn="ctr">
                        <a:buNone/>
                      </a:pPr>
                      <a:r>
                        <a:rPr lang="en-US" altLang="zh-CN" b="1">
                          <a:solidFill>
                            <a:schemeClr val="tx1"/>
                          </a:solidFill>
                          <a:latin typeface="Times New Roman" panose="02020603050405020304" pitchFamily="18" charset="0"/>
                          <a:cs typeface="Times New Roman" panose="02020603050405020304" pitchFamily="18" charset="0"/>
                        </a:rPr>
                        <a:t>36.5</a:t>
                      </a:r>
                    </a:p>
                  </a:txBody>
                  <a:tcPr anchor="ctr">
                    <a:solidFill>
                      <a:schemeClr val="accent1">
                        <a:lumMod val="20000"/>
                        <a:lumOff val="80000"/>
                      </a:schemeClr>
                    </a:solidFill>
                  </a:tcPr>
                </a:tc>
                <a:extLst>
                  <a:ext uri="{0D108BD9-81ED-4DB2-BD59-A6C34878D82A}">
                    <a16:rowId xmlns:a16="http://schemas.microsoft.com/office/drawing/2014/main" val="10000"/>
                  </a:ext>
                </a:extLst>
              </a:tr>
              <a:tr h="921385">
                <a:tc>
                  <a:txBody>
                    <a:bodyPr/>
                    <a:lstStyle/>
                    <a:p>
                      <a:pPr algn="ctr">
                        <a:buNone/>
                      </a:pPr>
                      <a:r>
                        <a:rPr lang="en-US" altLang="zh-CN" b="1" dirty="0">
                          <a:solidFill>
                            <a:schemeClr val="tx1"/>
                          </a:solidFill>
                          <a:latin typeface="Times New Roman" panose="02020603050405020304" pitchFamily="18" charset="0"/>
                          <a:cs typeface="Times New Roman" panose="02020603050405020304" pitchFamily="18" charset="0"/>
                        </a:rPr>
                        <a:t>Fin Top Width</a:t>
                      </a:r>
                    </a:p>
                    <a:p>
                      <a:pPr algn="ctr">
                        <a:buNone/>
                      </a:pPr>
                      <a:r>
                        <a:rPr lang="en-US" altLang="zh-CN" b="1" dirty="0">
                          <a:solidFill>
                            <a:schemeClr val="tx1"/>
                          </a:solidFill>
                          <a:latin typeface="Times New Roman" panose="02020603050405020304" pitchFamily="18" charset="0"/>
                          <a:cs typeface="Times New Roman" panose="02020603050405020304" pitchFamily="18" charset="0"/>
                        </a:rPr>
                        <a:t>(nm)</a:t>
                      </a:r>
                    </a:p>
                  </a:txBody>
                  <a:tcPr anchor="ctr"/>
                </a:tc>
                <a:tc>
                  <a:txBody>
                    <a:bodyPr/>
                    <a:lstStyle/>
                    <a:p>
                      <a:pPr algn="ctr">
                        <a:buNone/>
                      </a:pPr>
                      <a:r>
                        <a:rPr lang="en-US" altLang="zh-CN" b="1">
                          <a:solidFill>
                            <a:schemeClr val="tx1"/>
                          </a:solidFill>
                          <a:latin typeface="Times New Roman" panose="02020603050405020304" pitchFamily="18" charset="0"/>
                          <a:cs typeface="Times New Roman" panose="02020603050405020304" pitchFamily="18" charset="0"/>
                        </a:rPr>
                        <a:t>5.6</a:t>
                      </a:r>
                    </a:p>
                  </a:txBody>
                  <a:tcPr anchor="ctr"/>
                </a:tc>
                <a:extLst>
                  <a:ext uri="{0D108BD9-81ED-4DB2-BD59-A6C34878D82A}">
                    <a16:rowId xmlns:a16="http://schemas.microsoft.com/office/drawing/2014/main" val="10001"/>
                  </a:ext>
                </a:extLst>
              </a:tr>
              <a:tr h="921385">
                <a:tc>
                  <a:txBody>
                    <a:bodyPr/>
                    <a:lstStyle/>
                    <a:p>
                      <a:pPr algn="ctr">
                        <a:buNone/>
                      </a:pPr>
                      <a:r>
                        <a:rPr lang="en-US" altLang="zh-CN" b="1">
                          <a:solidFill>
                            <a:schemeClr val="tx1"/>
                          </a:solidFill>
                          <a:latin typeface="Times New Roman" panose="02020603050405020304" pitchFamily="18" charset="0"/>
                          <a:cs typeface="Times New Roman" panose="02020603050405020304" pitchFamily="18" charset="0"/>
                        </a:rPr>
                        <a:t>Fin Bottom Width</a:t>
                      </a:r>
                    </a:p>
                    <a:p>
                      <a:pPr algn="ctr">
                        <a:buNone/>
                      </a:pPr>
                      <a:r>
                        <a:rPr lang="en-US" altLang="zh-CN" b="1">
                          <a:solidFill>
                            <a:schemeClr val="tx1"/>
                          </a:solidFill>
                          <a:latin typeface="Times New Roman" panose="02020603050405020304" pitchFamily="18" charset="0"/>
                          <a:cs typeface="Times New Roman" panose="02020603050405020304" pitchFamily="18" charset="0"/>
                        </a:rPr>
                        <a:t>(nm)</a:t>
                      </a:r>
                    </a:p>
                  </a:txBody>
                  <a:tcPr anchor="ctr"/>
                </a:tc>
                <a:tc>
                  <a:txBody>
                    <a:bodyPr/>
                    <a:lstStyle/>
                    <a:p>
                      <a:pPr algn="ctr">
                        <a:buNone/>
                      </a:pPr>
                      <a:r>
                        <a:rPr lang="en-US" altLang="zh-CN" b="1">
                          <a:solidFill>
                            <a:schemeClr val="tx1"/>
                          </a:solidFill>
                          <a:latin typeface="Times New Roman" panose="02020603050405020304" pitchFamily="18" charset="0"/>
                          <a:cs typeface="Times New Roman" panose="02020603050405020304" pitchFamily="18" charset="0"/>
                        </a:rPr>
                        <a:t>7.1</a:t>
                      </a:r>
                    </a:p>
                  </a:txBody>
                  <a:tcPr anchor="ctr"/>
                </a:tc>
                <a:extLst>
                  <a:ext uri="{0D108BD9-81ED-4DB2-BD59-A6C34878D82A}">
                    <a16:rowId xmlns:a16="http://schemas.microsoft.com/office/drawing/2014/main" val="10002"/>
                  </a:ext>
                </a:extLst>
              </a:tr>
              <a:tr h="921385">
                <a:tc>
                  <a:txBody>
                    <a:bodyPr/>
                    <a:lstStyle/>
                    <a:p>
                      <a:pPr algn="ctr">
                        <a:buNone/>
                      </a:pPr>
                      <a:r>
                        <a:rPr lang="en-US" altLang="zh-CN" b="1">
                          <a:solidFill>
                            <a:schemeClr val="tx1"/>
                          </a:solidFill>
                          <a:latin typeface="Times New Roman" panose="02020603050405020304" pitchFamily="18" charset="0"/>
                          <a:cs typeface="Times New Roman" panose="02020603050405020304" pitchFamily="18" charset="0"/>
                        </a:rPr>
                        <a:t>Channel Length</a:t>
                      </a:r>
                    </a:p>
                    <a:p>
                      <a:pPr algn="ctr">
                        <a:buNone/>
                      </a:pPr>
                      <a:r>
                        <a:rPr lang="en-US" altLang="zh-CN" b="1">
                          <a:solidFill>
                            <a:schemeClr val="tx1"/>
                          </a:solidFill>
                          <a:latin typeface="Times New Roman" panose="02020603050405020304" pitchFamily="18" charset="0"/>
                          <a:cs typeface="Times New Roman" panose="02020603050405020304" pitchFamily="18" charset="0"/>
                        </a:rPr>
                        <a:t>(nm)</a:t>
                      </a:r>
                    </a:p>
                  </a:txBody>
                  <a:tcPr anchor="ctr"/>
                </a:tc>
                <a:tc>
                  <a:txBody>
                    <a:bodyPr/>
                    <a:lstStyle/>
                    <a:p>
                      <a:pPr algn="ctr">
                        <a:buNone/>
                      </a:pPr>
                      <a:r>
                        <a:rPr lang="en-US" altLang="zh-CN" b="1">
                          <a:solidFill>
                            <a:schemeClr val="tx1"/>
                          </a:solidFill>
                          <a:latin typeface="Times New Roman" panose="02020603050405020304" pitchFamily="18" charset="0"/>
                          <a:cs typeface="Times New Roman" panose="02020603050405020304" pitchFamily="18" charset="0"/>
                        </a:rPr>
                        <a:t>16.5</a:t>
                      </a:r>
                    </a:p>
                  </a:txBody>
                  <a:tcPr anchor="ctr"/>
                </a:tc>
                <a:extLst>
                  <a:ext uri="{0D108BD9-81ED-4DB2-BD59-A6C34878D82A}">
                    <a16:rowId xmlns:a16="http://schemas.microsoft.com/office/drawing/2014/main" val="10003"/>
                  </a:ext>
                </a:extLst>
              </a:tr>
              <a:tr h="921385">
                <a:tc>
                  <a:txBody>
                    <a:bodyPr/>
                    <a:lstStyle/>
                    <a:p>
                      <a:pPr algn="ctr">
                        <a:buNone/>
                      </a:pPr>
                      <a:r>
                        <a:rPr lang="en-US" altLang="zh-CN" b="1">
                          <a:solidFill>
                            <a:schemeClr val="tx1"/>
                          </a:solidFill>
                          <a:latin typeface="Times New Roman" panose="02020603050405020304" pitchFamily="18" charset="0"/>
                          <a:cs typeface="Times New Roman" panose="02020603050405020304" pitchFamily="18" charset="0"/>
                        </a:rPr>
                        <a:t>EOT</a:t>
                      </a:r>
                    </a:p>
                    <a:p>
                      <a:pPr algn="ctr">
                        <a:buNone/>
                      </a:pPr>
                      <a:r>
                        <a:rPr lang="en-US" altLang="zh-CN" b="1">
                          <a:solidFill>
                            <a:schemeClr val="tx1"/>
                          </a:solidFill>
                          <a:latin typeface="Times New Roman" panose="02020603050405020304" pitchFamily="18" charset="0"/>
                          <a:cs typeface="Times New Roman" panose="02020603050405020304" pitchFamily="18" charset="0"/>
                        </a:rPr>
                        <a:t>(nm)</a:t>
                      </a:r>
                    </a:p>
                  </a:txBody>
                  <a:tcPr anchor="ctr"/>
                </a:tc>
                <a:tc>
                  <a:txBody>
                    <a:bodyPr/>
                    <a:lstStyle/>
                    <a:p>
                      <a:pPr algn="ctr">
                        <a:buNone/>
                      </a:pPr>
                      <a:r>
                        <a:rPr lang="en-US" altLang="zh-CN" b="1" dirty="0">
                          <a:solidFill>
                            <a:schemeClr val="tx1"/>
                          </a:solidFill>
                          <a:latin typeface="Times New Roman" panose="02020603050405020304" pitchFamily="18" charset="0"/>
                          <a:cs typeface="Times New Roman" panose="02020603050405020304" pitchFamily="18" charset="0"/>
                        </a:rPr>
                        <a:t>0.7</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0574-AB6A-CC92-C3D1-A83B6166FFC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41AECA2-746D-E894-D163-392D45A63CCF}"/>
              </a:ext>
            </a:extLst>
          </p:cNvPr>
          <p:cNvSpPr/>
          <p:nvPr/>
        </p:nvSpPr>
        <p:spPr>
          <a:xfrm>
            <a:off x="0" y="0"/>
            <a:ext cx="12192000" cy="59375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dobe 黑体 Std"/>
              <a:ea typeface="微软雅黑" panose="020B0503020204020204" pitchFamily="34" charset="-122"/>
              <a:sym typeface="Adobe 黑体 Std"/>
            </a:endParaRPr>
          </a:p>
        </p:txBody>
      </p:sp>
      <p:sp>
        <p:nvSpPr>
          <p:cNvPr id="5" name="文本框 4">
            <a:extLst>
              <a:ext uri="{FF2B5EF4-FFF2-40B4-BE49-F238E27FC236}">
                <a16:creationId xmlns:a16="http://schemas.microsoft.com/office/drawing/2014/main" id="{9FE9434B-7872-1DC9-012F-AEAB4D230FD8}"/>
              </a:ext>
            </a:extLst>
          </p:cNvPr>
          <p:cNvSpPr txBox="1"/>
          <p:nvPr/>
        </p:nvSpPr>
        <p:spPr>
          <a:xfrm>
            <a:off x="113231" y="21699"/>
            <a:ext cx="4445448" cy="584775"/>
          </a:xfrm>
          <a:prstGeom prst="rect">
            <a:avLst/>
          </a:prstGeom>
          <a:noFill/>
        </p:spPr>
        <p:txBody>
          <a:bodyPr wrap="none" rtlCol="0">
            <a:spAutoFit/>
          </a:bodyPr>
          <a:lstStyle/>
          <a:p>
            <a:r>
              <a:rPr lang="en-US" altLang="zh-CN" sz="3200" b="1" dirty="0" err="1">
                <a:latin typeface="Arial" panose="020B0604020202020204" pitchFamily="34" charset="0"/>
                <a:ea typeface="微软雅黑" panose="020B0503020204020204" pitchFamily="34" charset="-122"/>
                <a:cs typeface="Arial" panose="020B0604020202020204" pitchFamily="34" charset="0"/>
                <a:sym typeface="Adobe 黑体 Std"/>
              </a:rPr>
              <a:t>FinFET</a:t>
            </a:r>
            <a:r>
              <a:rPr lang="zh-CN" altLang="en-US" sz="3200" b="1" dirty="0">
                <a:latin typeface="Arial" panose="020B0604020202020204" pitchFamily="34" charset="0"/>
                <a:ea typeface="微软雅黑" panose="020B0503020204020204" pitchFamily="34" charset="-122"/>
                <a:cs typeface="Arial" panose="020B0604020202020204" pitchFamily="34" charset="0"/>
                <a:sym typeface="Adobe 黑体 Std"/>
              </a:rPr>
              <a:t>多尺度求解方案</a:t>
            </a:r>
          </a:p>
        </p:txBody>
      </p:sp>
      <p:sp>
        <p:nvSpPr>
          <p:cNvPr id="3" name="文本框 2">
            <a:extLst>
              <a:ext uri="{FF2B5EF4-FFF2-40B4-BE49-F238E27FC236}">
                <a16:creationId xmlns:a16="http://schemas.microsoft.com/office/drawing/2014/main" id="{19460008-DA76-E308-93FF-8F1734003C17}"/>
              </a:ext>
            </a:extLst>
          </p:cNvPr>
          <p:cNvSpPr txBox="1"/>
          <p:nvPr/>
        </p:nvSpPr>
        <p:spPr>
          <a:xfrm>
            <a:off x="422598" y="1207396"/>
            <a:ext cx="9685757" cy="1506829"/>
          </a:xfrm>
          <a:prstGeom prst="rect">
            <a:avLst/>
          </a:prstGeom>
          <a:noFill/>
        </p:spPr>
        <p:txBody>
          <a:bodyPr wrap="square" anchor="t">
            <a:noAutofit/>
          </a:bodyPr>
          <a:lstStyle/>
          <a:p>
            <a:pPr defTabSz="266700">
              <a:lnSpc>
                <a:spcPct val="160000"/>
              </a:lnSpc>
            </a:pP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为了在宏观尺度上保留物理信息，我们在以</a:t>
            </a:r>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工具</a:t>
            </a:r>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(Sentaurus)</a:t>
            </a: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所使用的漂移扩散</a:t>
            </a:r>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(Drift-</a:t>
            </a:r>
            <a:r>
              <a:rPr lang="en-US" altLang="zh-CN" sz="2000"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Difffusion,DD</a:t>
            </a:r>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输运方程为基础的</a:t>
            </a:r>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仿真架构内，进行多层次校准：</a:t>
            </a:r>
            <a:endPar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3" name="文本框 12">
            <a:extLst>
              <a:ext uri="{FF2B5EF4-FFF2-40B4-BE49-F238E27FC236}">
                <a16:creationId xmlns:a16="http://schemas.microsoft.com/office/drawing/2014/main" id="{17D8C481-4A3C-C8D8-FB3C-D5F17EEB69AA}"/>
              </a:ext>
            </a:extLst>
          </p:cNvPr>
          <p:cNvSpPr txBox="1"/>
          <p:nvPr/>
        </p:nvSpPr>
        <p:spPr>
          <a:xfrm>
            <a:off x="5842255" y="2234898"/>
            <a:ext cx="6002383" cy="338554"/>
          </a:xfrm>
          <a:prstGeom prst="rect">
            <a:avLst/>
          </a:prstGeom>
          <a:noFill/>
        </p:spPr>
        <p:txBody>
          <a:bodyPr wrap="square" rtlCol="0" anchor="t">
            <a:spAutoFit/>
          </a:bodyPr>
          <a:lstStyle/>
          <a:p>
            <a:pPr indent="0" algn="ctr">
              <a:buFont typeface="Arial" panose="020B0604020202020204" pitchFamily="34" charset="0"/>
              <a:buNone/>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表</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600" b="1" dirty="0">
                <a:latin typeface="Arial" panose="020B0604020202020204" pitchFamily="34" charset="0"/>
                <a:ea typeface="微软雅黑" panose="020B0503020204020204" pitchFamily="34" charset="-122"/>
                <a:cs typeface="Arial" panose="020B0604020202020204" pitchFamily="34" charset="0"/>
                <a:sym typeface="Adobe 黑体 Std"/>
              </a:rPr>
              <a:t>漂移扩散输运体系与</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玻尔兹曼</a:t>
            </a:r>
            <a:r>
              <a:rPr lang="zh-CN" altLang="en-US" sz="1600" b="1" dirty="0">
                <a:latin typeface="Arial" panose="020B0604020202020204" pitchFamily="34" charset="0"/>
                <a:ea typeface="微软雅黑" panose="020B0503020204020204" pitchFamily="34" charset="-122"/>
                <a:cs typeface="Arial" panose="020B0604020202020204" pitchFamily="34" charset="0"/>
                <a:sym typeface="Adobe 黑体 Std"/>
              </a:rPr>
              <a:t>输运体系的对比</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9" name="文本框 8">
            <a:extLst>
              <a:ext uri="{FF2B5EF4-FFF2-40B4-BE49-F238E27FC236}">
                <a16:creationId xmlns:a16="http://schemas.microsoft.com/office/drawing/2014/main" id="{1F553625-E27F-262D-A779-FA9C6D959C6A}"/>
              </a:ext>
            </a:extLst>
          </p:cNvPr>
          <p:cNvSpPr txBox="1"/>
          <p:nvPr/>
        </p:nvSpPr>
        <p:spPr>
          <a:xfrm>
            <a:off x="5842255" y="5073765"/>
            <a:ext cx="4958422" cy="338554"/>
          </a:xfrm>
          <a:prstGeom prst="rect">
            <a:avLst/>
          </a:prstGeom>
          <a:noFill/>
        </p:spPr>
        <p:txBody>
          <a:bodyPr wrap="square" rtlCol="0" anchor="t">
            <a:spAutoFit/>
          </a:bodyPr>
          <a:lstStyle/>
          <a:p>
            <a:pPr indent="0">
              <a:buFont typeface="Arial" panose="020B0604020202020204" pitchFamily="34" charset="0"/>
              <a:buNone/>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经验参数增多、计算规模</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尺度提高</a:t>
            </a:r>
          </a:p>
        </p:txBody>
      </p:sp>
      <p:sp>
        <p:nvSpPr>
          <p:cNvPr id="12" name="文本框 11">
            <a:extLst>
              <a:ext uri="{FF2B5EF4-FFF2-40B4-BE49-F238E27FC236}">
                <a16:creationId xmlns:a16="http://schemas.microsoft.com/office/drawing/2014/main" id="{87B69425-C512-2DFB-9930-C975C479802B}"/>
              </a:ext>
            </a:extLst>
          </p:cNvPr>
          <p:cNvSpPr txBox="1"/>
          <p:nvPr/>
        </p:nvSpPr>
        <p:spPr>
          <a:xfrm>
            <a:off x="422598" y="2284032"/>
            <a:ext cx="5268260" cy="3239430"/>
          </a:xfrm>
          <a:prstGeom prst="rect">
            <a:avLst/>
          </a:prstGeom>
          <a:noFill/>
        </p:spPr>
        <p:txBody>
          <a:bodyPr wrap="square" anchor="t">
            <a:noAutofit/>
          </a:bodyPr>
          <a:lstStyle/>
          <a:p>
            <a:pPr marL="342900" indent="-342900" defTabSz="266700">
              <a:lnSpc>
                <a:spcPct val="160000"/>
              </a:lnSpc>
              <a:buFont typeface="Arial" panose="020B0604020202020204" pitchFamily="34" charset="0"/>
              <a:buChar char="•"/>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密度梯度</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(Density-Gradient, DG)</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校准 电荷分布</a:t>
            </a:r>
            <a:endPar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42900" indent="-342900" defTabSz="266700">
              <a:lnSpc>
                <a:spcPct val="160000"/>
              </a:lnSpc>
              <a:buFont typeface="Arial" panose="020B0604020202020204" pitchFamily="34" charset="0"/>
              <a:buChar char="•"/>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玻尔兹曼输运方程</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(Boltzmann transport Equation,</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BTE)</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校准 弹道输运</a:t>
            </a:r>
            <a:endPar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42900" indent="-342900" defTabSz="266700">
              <a:lnSpc>
                <a:spcPct val="160000"/>
              </a:lnSpc>
              <a:buFont typeface="Arial" panose="020B0604020202020204" pitchFamily="34" charset="0"/>
              <a:buChar char="•"/>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交流</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非平衡格林函数</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(AC-NEGF)</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校准 交流特性</a:t>
            </a:r>
            <a:endPar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42900" indent="-342900" defTabSz="266700">
              <a:lnSpc>
                <a:spcPct val="160000"/>
              </a:lnSpc>
              <a:buFont typeface="Arial" panose="020B0604020202020204" pitchFamily="34" charset="0"/>
              <a:buChar char="•"/>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密度泛函理论</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(density function theory,</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DFT)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校准 界面特性</a:t>
            </a:r>
            <a:endPar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0" name="文本框 9">
            <a:extLst>
              <a:ext uri="{FF2B5EF4-FFF2-40B4-BE49-F238E27FC236}">
                <a16:creationId xmlns:a16="http://schemas.microsoft.com/office/drawing/2014/main" id="{8531CE9D-E755-27E8-E2B4-DA4D1C360BC5}"/>
              </a:ext>
            </a:extLst>
          </p:cNvPr>
          <p:cNvSpPr txBox="1"/>
          <p:nvPr/>
        </p:nvSpPr>
        <p:spPr>
          <a:xfrm>
            <a:off x="7587385" y="5478551"/>
            <a:ext cx="4132621" cy="338554"/>
          </a:xfrm>
          <a:prstGeom prst="rect">
            <a:avLst/>
          </a:prstGeom>
          <a:noFill/>
        </p:spPr>
        <p:txBody>
          <a:bodyPr wrap="square" rtlCol="0" anchor="t">
            <a:spAutoFit/>
          </a:bodyPr>
          <a:lstStyle/>
          <a:p>
            <a:pPr indent="0" algn="r">
              <a:buFont typeface="Arial" panose="020B0604020202020204" pitchFamily="34" charset="0"/>
              <a:buNone/>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物理效应丰富、微观分辨率提高</a:t>
            </a:r>
          </a:p>
        </p:txBody>
      </p:sp>
      <p:sp>
        <p:nvSpPr>
          <p:cNvPr id="16" name="箭头: 右 15">
            <a:extLst>
              <a:ext uri="{FF2B5EF4-FFF2-40B4-BE49-F238E27FC236}">
                <a16:creationId xmlns:a16="http://schemas.microsoft.com/office/drawing/2014/main" id="{11E7B14B-E07A-0CC2-B864-B671B78899B6}"/>
              </a:ext>
            </a:extLst>
          </p:cNvPr>
          <p:cNvSpPr/>
          <p:nvPr/>
        </p:nvSpPr>
        <p:spPr>
          <a:xfrm>
            <a:off x="9146259" y="5145947"/>
            <a:ext cx="2717773" cy="2663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1ECCA763-6DAF-9145-B3DD-55093F478093}"/>
              </a:ext>
            </a:extLst>
          </p:cNvPr>
          <p:cNvSpPr/>
          <p:nvPr/>
        </p:nvSpPr>
        <p:spPr>
          <a:xfrm flipH="1">
            <a:off x="5842255" y="5534228"/>
            <a:ext cx="2912928" cy="2193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连接符: 肘形 27">
            <a:extLst>
              <a:ext uri="{FF2B5EF4-FFF2-40B4-BE49-F238E27FC236}">
                <a16:creationId xmlns:a16="http://schemas.microsoft.com/office/drawing/2014/main" id="{588AA2CB-DB06-E316-6003-761AA3E56BCF}"/>
              </a:ext>
            </a:extLst>
          </p:cNvPr>
          <p:cNvCxnSpPr>
            <a:cxnSpLocks/>
          </p:cNvCxnSpPr>
          <p:nvPr/>
        </p:nvCxnSpPr>
        <p:spPr>
          <a:xfrm rot="16200000" flipH="1">
            <a:off x="9390412" y="1273455"/>
            <a:ext cx="10766" cy="4009265"/>
          </a:xfrm>
          <a:prstGeom prst="bentConnector3">
            <a:avLst>
              <a:gd name="adj1" fmla="val -581043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C7ECC9D1-22A7-067E-B016-5E57C910D01D}"/>
              </a:ext>
            </a:extLst>
          </p:cNvPr>
          <p:cNvCxnSpPr>
            <a:cxnSpLocks/>
          </p:cNvCxnSpPr>
          <p:nvPr/>
        </p:nvCxnSpPr>
        <p:spPr>
          <a:xfrm rot="16200000" flipH="1">
            <a:off x="9911005" y="1792249"/>
            <a:ext cx="141279" cy="3145966"/>
          </a:xfrm>
          <a:prstGeom prst="bentConnector4">
            <a:avLst>
              <a:gd name="adj1" fmla="val -327378"/>
              <a:gd name="adj2" fmla="val 9511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连接符: 肘形 38">
            <a:extLst>
              <a:ext uri="{FF2B5EF4-FFF2-40B4-BE49-F238E27FC236}">
                <a16:creationId xmlns:a16="http://schemas.microsoft.com/office/drawing/2014/main" id="{4C838480-9EB7-B0AE-5B33-27A303D6408F}"/>
              </a:ext>
            </a:extLst>
          </p:cNvPr>
          <p:cNvCxnSpPr>
            <a:cxnSpLocks/>
          </p:cNvCxnSpPr>
          <p:nvPr/>
        </p:nvCxnSpPr>
        <p:spPr>
          <a:xfrm rot="16200000" flipH="1">
            <a:off x="10911260" y="2786895"/>
            <a:ext cx="304801" cy="1297951"/>
          </a:xfrm>
          <a:prstGeom prst="bentConnector4">
            <a:avLst>
              <a:gd name="adj1" fmla="val -102907"/>
              <a:gd name="adj2" fmla="val 7580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0EB7692C-6E26-639A-B694-EFDC705D5831}"/>
              </a:ext>
            </a:extLst>
          </p:cNvPr>
          <p:cNvGraphicFramePr>
            <a:graphicFrameLocks noGrp="1"/>
          </p:cNvGraphicFramePr>
          <p:nvPr>
            <p:extLst>
              <p:ext uri="{D42A27DB-BD31-4B8C-83A1-F6EECF244321}">
                <p14:modId xmlns:p14="http://schemas.microsoft.com/office/powerpoint/2010/main" val="3610202569"/>
              </p:ext>
            </p:extLst>
          </p:nvPr>
        </p:nvGraphicFramePr>
        <p:xfrm>
          <a:off x="5842256" y="3272704"/>
          <a:ext cx="6021777" cy="1767840"/>
        </p:xfrm>
        <a:graphic>
          <a:graphicData uri="http://schemas.openxmlformats.org/drawingml/2006/table">
            <a:tbl>
              <a:tblPr firstRow="1" bandRow="1">
                <a:tableStyleId>{5C22544A-7EE6-4342-B048-85BDC9FD1C3A}</a:tableStyleId>
              </a:tblPr>
              <a:tblGrid>
                <a:gridCol w="1000853">
                  <a:extLst>
                    <a:ext uri="{9D8B030D-6E8A-4147-A177-3AD203B41FA5}">
                      <a16:colId xmlns:a16="http://schemas.microsoft.com/office/drawing/2014/main" val="4003831592"/>
                    </a:ext>
                  </a:extLst>
                </a:gridCol>
                <a:gridCol w="1006408">
                  <a:extLst>
                    <a:ext uri="{9D8B030D-6E8A-4147-A177-3AD203B41FA5}">
                      <a16:colId xmlns:a16="http://schemas.microsoft.com/office/drawing/2014/main" val="3244631843"/>
                    </a:ext>
                  </a:extLst>
                </a:gridCol>
                <a:gridCol w="1003629">
                  <a:extLst>
                    <a:ext uri="{9D8B030D-6E8A-4147-A177-3AD203B41FA5}">
                      <a16:colId xmlns:a16="http://schemas.microsoft.com/office/drawing/2014/main" val="1285754177"/>
                    </a:ext>
                  </a:extLst>
                </a:gridCol>
                <a:gridCol w="1003629">
                  <a:extLst>
                    <a:ext uri="{9D8B030D-6E8A-4147-A177-3AD203B41FA5}">
                      <a16:colId xmlns:a16="http://schemas.microsoft.com/office/drawing/2014/main" val="3799498549"/>
                    </a:ext>
                  </a:extLst>
                </a:gridCol>
                <a:gridCol w="1003629">
                  <a:extLst>
                    <a:ext uri="{9D8B030D-6E8A-4147-A177-3AD203B41FA5}">
                      <a16:colId xmlns:a16="http://schemas.microsoft.com/office/drawing/2014/main" val="1488089587"/>
                    </a:ext>
                  </a:extLst>
                </a:gridCol>
                <a:gridCol w="1003629">
                  <a:extLst>
                    <a:ext uri="{9D8B030D-6E8A-4147-A177-3AD203B41FA5}">
                      <a16:colId xmlns:a16="http://schemas.microsoft.com/office/drawing/2014/main" val="2097723835"/>
                    </a:ext>
                  </a:extLst>
                </a:gridCol>
              </a:tblGrid>
              <a:tr h="450244">
                <a:tc>
                  <a:txBody>
                    <a:bodyPr/>
                    <a:lstStyle/>
                    <a:p>
                      <a:pPr algn="ct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DFT</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NEGF</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WBTE/DG/ET/…</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BTE</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漂移扩散</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70174127"/>
                  </a:ext>
                </a:extLst>
              </a:tr>
              <a:tr h="517608">
                <a:tc>
                  <a:txBody>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核心方程</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Kohn–Sham</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Dyson, </a:t>
                      </a:r>
                      <a:r>
                        <a:rPr lang="en-US" altLang="zh-CN" sz="1400" b="1" dirty="0" err="1">
                          <a:solidFill>
                            <a:schemeClr val="tx1"/>
                          </a:solidFill>
                          <a:latin typeface="微软雅黑" panose="020B0503020204020204" pitchFamily="34" charset="-122"/>
                          <a:ea typeface="微软雅黑" panose="020B0503020204020204" pitchFamily="34" charset="-122"/>
                        </a:rPr>
                        <a:t>Keldysh</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BTE</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DD</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333790456"/>
                  </a:ext>
                </a:extLst>
              </a:tr>
              <a:tr h="635638">
                <a:tc>
                  <a:txBody>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求解方式</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平面波</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矩阵运算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蒙特卡洛</a:t>
                      </a:r>
                      <a:r>
                        <a:rPr lang="en-US" altLang="zh-CN" sz="1400" b="1" dirty="0">
                          <a:solidFill>
                            <a:schemeClr val="tx1"/>
                          </a:solidFill>
                          <a:latin typeface="微软雅黑" panose="020B0503020204020204" pitchFamily="34" charset="-122"/>
                          <a:ea typeface="微软雅黑" panose="020B0503020204020204" pitchFamily="34" charset="-122"/>
                        </a:rPr>
                        <a:t>/</a:t>
                      </a:r>
                      <a:r>
                        <a:rPr lang="zh-CN" altLang="en-US" sz="1400" b="1" dirty="0">
                          <a:solidFill>
                            <a:schemeClr val="tx1"/>
                          </a:solidFill>
                          <a:latin typeface="微软雅黑" panose="020B0503020204020204" pitchFamily="34" charset="-122"/>
                          <a:ea typeface="微软雅黑" panose="020B0503020204020204" pitchFamily="34" charset="-122"/>
                        </a:rPr>
                        <a:t>确定性方法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有限元</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4001222"/>
                  </a:ext>
                </a:extLst>
              </a:tr>
            </a:tbl>
          </a:graphicData>
        </a:graphic>
      </p:graphicFrame>
      <p:sp>
        <p:nvSpPr>
          <p:cNvPr id="6" name="文本框 5">
            <a:extLst>
              <a:ext uri="{FF2B5EF4-FFF2-40B4-BE49-F238E27FC236}">
                <a16:creationId xmlns:a16="http://schemas.microsoft.com/office/drawing/2014/main" id="{513B9420-AE24-5199-C582-39A51075EB13}"/>
              </a:ext>
            </a:extLst>
          </p:cNvPr>
          <p:cNvSpPr txBox="1"/>
          <p:nvPr/>
        </p:nvSpPr>
        <p:spPr>
          <a:xfrm>
            <a:off x="113231" y="723966"/>
            <a:ext cx="6498895" cy="523220"/>
          </a:xfrm>
          <a:prstGeom prst="rect">
            <a:avLst/>
          </a:prstGeom>
          <a:noFill/>
        </p:spPr>
        <p:txBody>
          <a:bodyPr wrap="none" rtlCol="0">
            <a:spAutoFit/>
          </a:bodyPr>
          <a:lstStyle/>
          <a:p>
            <a:pPr marL="285750" indent="-285750" algn="l">
              <a:buFont typeface="Arial" panose="020B0604020202020204" pitchFamily="34" charset="0"/>
              <a:buChar char="•"/>
            </a:pPr>
            <a:r>
              <a:rPr lang="zh-CN" altLang="en-US" sz="2800" b="1" dirty="0">
                <a:latin typeface="Arial" panose="020B0604020202020204" pitchFamily="34" charset="0"/>
                <a:ea typeface="微软雅黑" panose="020B0503020204020204" pitchFamily="34" charset="-122"/>
                <a:cs typeface="Arial" panose="020B0604020202020204" pitchFamily="34" charset="0"/>
                <a:sym typeface="Adobe 黑体 Std"/>
              </a:rPr>
              <a:t>基于</a:t>
            </a:r>
            <a:r>
              <a:rPr lang="en-US" altLang="zh-CN" sz="2800" b="1" dirty="0">
                <a:latin typeface="Arial" panose="020B0604020202020204" pitchFamily="34" charset="0"/>
                <a:ea typeface="微软雅黑" panose="020B0503020204020204" pitchFamily="34" charset="-122"/>
                <a:cs typeface="Arial" panose="020B0604020202020204" pitchFamily="34" charset="0"/>
                <a:sym typeface="Adobe 黑体 Std"/>
              </a:rPr>
              <a:t>TCAD</a:t>
            </a:r>
            <a:r>
              <a:rPr lang="zh-CN" altLang="en-US" sz="2800" b="1" dirty="0">
                <a:latin typeface="Arial" panose="020B0604020202020204" pitchFamily="34" charset="0"/>
                <a:ea typeface="微软雅黑" panose="020B0503020204020204" pitchFamily="34" charset="-122"/>
                <a:cs typeface="Arial" panose="020B0604020202020204" pitchFamily="34" charset="0"/>
                <a:sym typeface="Adobe 黑体 Std"/>
              </a:rPr>
              <a:t>仿真工具的多尺度物理仿真</a:t>
            </a:r>
          </a:p>
        </p:txBody>
      </p:sp>
    </p:spTree>
    <p:extLst>
      <p:ext uri="{BB962C8B-B14F-4D97-AF65-F5344CB8AC3E}">
        <p14:creationId xmlns:p14="http://schemas.microsoft.com/office/powerpoint/2010/main" val="2340283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9375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dobe 黑体 Std"/>
              <a:ea typeface="微软雅黑" panose="020B0503020204020204" pitchFamily="34" charset="-122"/>
              <a:sym typeface="Adobe 黑体 Std"/>
            </a:endParaRPr>
          </a:p>
        </p:txBody>
      </p:sp>
      <p:sp>
        <p:nvSpPr>
          <p:cNvPr id="5" name="文本框 4"/>
          <p:cNvSpPr txBox="1"/>
          <p:nvPr/>
        </p:nvSpPr>
        <p:spPr>
          <a:xfrm>
            <a:off x="113231" y="21699"/>
            <a:ext cx="4105611" cy="584775"/>
          </a:xfrm>
          <a:prstGeom prst="rect">
            <a:avLst/>
          </a:prstGeom>
          <a:noFill/>
        </p:spPr>
        <p:txBody>
          <a:bodyPr wrap="none" rtlCol="0">
            <a:spAutoFit/>
          </a:bodyPr>
          <a:lstStyle/>
          <a:p>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DC-NEGF</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技术的开发</a:t>
            </a:r>
            <a:endPar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p:txBody>
      </p:sp>
      <p:sp>
        <p:nvSpPr>
          <p:cNvPr id="2" name="文本框 7">
            <a:extLst>
              <a:ext uri="{FF2B5EF4-FFF2-40B4-BE49-F238E27FC236}">
                <a16:creationId xmlns:a16="http://schemas.microsoft.com/office/drawing/2014/main" id="{097E20A8-820E-9A05-0BC7-174F721F66B2}"/>
              </a:ext>
            </a:extLst>
          </p:cNvPr>
          <p:cNvSpPr txBox="1"/>
          <p:nvPr/>
        </p:nvSpPr>
        <p:spPr>
          <a:xfrm>
            <a:off x="446315" y="1191536"/>
            <a:ext cx="11875569" cy="400110"/>
          </a:xfrm>
          <a:prstGeom prst="rect">
            <a:avLst/>
          </a:prstGeom>
          <a:noFill/>
        </p:spPr>
        <p:txBody>
          <a:bodyPr wrap="square" rtlCol="0">
            <a:spAutoFit/>
          </a:bodyPr>
          <a:lstStyle/>
          <a:p>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rPr>
              <a:t>AC-NEGF</a:t>
            </a: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rPr>
              <a:t>需要高精度、稳定的</a:t>
            </a:r>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rPr>
              <a:t>DC</a:t>
            </a: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rPr>
              <a:t>解作为基础，因此我们首先开发了一套</a:t>
            </a:r>
            <a:r>
              <a:rPr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rPr>
              <a:t>DC-NEGF</a:t>
            </a:r>
            <a:r>
              <a:rPr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rPr>
              <a:t>计算方案：</a:t>
            </a:r>
          </a:p>
        </p:txBody>
      </p:sp>
      <p:grpSp>
        <p:nvGrpSpPr>
          <p:cNvPr id="8" name="组合 7">
            <a:extLst>
              <a:ext uri="{FF2B5EF4-FFF2-40B4-BE49-F238E27FC236}">
                <a16:creationId xmlns:a16="http://schemas.microsoft.com/office/drawing/2014/main" id="{388468CD-F8CC-9820-0D26-8CC7300B82A7}"/>
              </a:ext>
            </a:extLst>
          </p:cNvPr>
          <p:cNvGrpSpPr/>
          <p:nvPr/>
        </p:nvGrpSpPr>
        <p:grpSpPr>
          <a:xfrm>
            <a:off x="5296988" y="3324527"/>
            <a:ext cx="6481133" cy="2703349"/>
            <a:chOff x="3534957" y="1124076"/>
            <a:chExt cx="8370296" cy="3301365"/>
          </a:xfrm>
        </p:grpSpPr>
        <p:pic>
          <p:nvPicPr>
            <p:cNvPr id="6" name="图片 5">
              <a:extLst>
                <a:ext uri="{FF2B5EF4-FFF2-40B4-BE49-F238E27FC236}">
                  <a16:creationId xmlns:a16="http://schemas.microsoft.com/office/drawing/2014/main" id="{0D5CF2C4-AEDE-C383-41AE-46D1F57FC7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534957" y="1398396"/>
              <a:ext cx="4238625" cy="3027045"/>
            </a:xfrm>
            <a:prstGeom prst="rect">
              <a:avLst/>
            </a:prstGeom>
            <a:noFill/>
            <a:ln>
              <a:noFill/>
            </a:ln>
          </p:spPr>
        </p:pic>
        <p:pic>
          <p:nvPicPr>
            <p:cNvPr id="7" name="图片 6">
              <a:extLst>
                <a:ext uri="{FF2B5EF4-FFF2-40B4-BE49-F238E27FC236}">
                  <a16:creationId xmlns:a16="http://schemas.microsoft.com/office/drawing/2014/main" id="{F06E6FE7-24E1-ABFF-50E3-F063729DEA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857128" y="1124076"/>
              <a:ext cx="4048125" cy="3301365"/>
            </a:xfrm>
            <a:prstGeom prst="rect">
              <a:avLst/>
            </a:prstGeom>
            <a:noFill/>
            <a:ln>
              <a:noFill/>
            </a:ln>
          </p:spPr>
        </p:pic>
      </p:gr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6C6E94C8-E13F-A34C-D75F-0720FF142BE7}"/>
                  </a:ext>
                </a:extLst>
              </p:cNvPr>
              <p:cNvSpPr txBox="1"/>
              <p:nvPr/>
            </p:nvSpPr>
            <p:spPr>
              <a:xfrm>
                <a:off x="423431" y="3747751"/>
                <a:ext cx="6290930" cy="2674707"/>
              </a:xfrm>
              <a:prstGeom prst="rect">
                <a:avLst/>
              </a:prstGeom>
              <a:noFill/>
            </p:spPr>
            <p:txBody>
              <a:bodyPr wrap="square">
                <a:spAutoFit/>
              </a:bodyPr>
              <a:lstStyle/>
              <a:p>
                <a:pPr marL="342900" lvl="0" indent="-342900" algn="just">
                  <a:lnSpc>
                    <a:spcPct val="150000"/>
                  </a:lnSpc>
                  <a:buFont typeface="+mj-lt"/>
                  <a:buAutoNum type="arabicPeriod"/>
                  <a:tabLst>
                    <a:tab pos="457200" algn="l"/>
                  </a:tabLst>
                </a:pP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初始化导带分布 </a:t>
                </a:r>
                <a14:m>
                  <m:oMath xmlns:m="http://schemas.openxmlformats.org/officeDocument/2006/math">
                    <m:sSub>
                      <m:sSubPr>
                        <m:ctrlPr>
                          <a:rPr lang="zh-CN" altLang="zh-CN" sz="16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m:ctrlPr>
                      </m:sSubPr>
                      <m:e>
                        <m:r>
                          <a:rPr lang="en-US" altLang="zh-CN" sz="1600" b="1" i="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m:t>𝑬</m:t>
                        </m:r>
                      </m:e>
                      <m:sub>
                        <m:r>
                          <a:rPr lang="en-US" altLang="zh-CN" sz="1600" b="1" i="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m:t>𝒄</m:t>
                        </m:r>
                      </m:sub>
                    </m:sSub>
                  </m:oMath>
                </a14:m>
                <a:endPar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gn="just">
                  <a:lnSpc>
                    <a:spcPct val="150000"/>
                  </a:lnSpc>
                  <a:buFont typeface="+mj-lt"/>
                  <a:buAutoNum type="arabicPeriod"/>
                  <a:tabLst>
                    <a:tab pos="457200" algn="l"/>
                  </a:tabLst>
                </a:pP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求解横截面</a:t>
                </a:r>
                <a:r>
                  <a:rPr lang="en-US"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Schrödinger </a:t>
                </a: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方程获得子带结构</a:t>
                </a:r>
              </a:p>
              <a:p>
                <a:pPr marL="342900" lvl="0" indent="-342900" algn="just">
                  <a:lnSpc>
                    <a:spcPct val="150000"/>
                  </a:lnSpc>
                  <a:buFont typeface="+mj-lt"/>
                  <a:buAutoNum type="arabicPeriod"/>
                  <a:tabLst>
                    <a:tab pos="457200" algn="l"/>
                  </a:tabLst>
                </a:pP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计算</a:t>
                </a:r>
                <a:r>
                  <a:rPr lang="en-US"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NEGF </a:t>
                </a: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格林函数</a:t>
                </a:r>
              </a:p>
              <a:p>
                <a:pPr marL="342900" lvl="0" indent="-342900" algn="just">
                  <a:lnSpc>
                    <a:spcPct val="150000"/>
                  </a:lnSpc>
                  <a:buFont typeface="+mj-lt"/>
                  <a:buAutoNum type="arabicPeriod"/>
                  <a:tabLst>
                    <a:tab pos="457200" algn="l"/>
                  </a:tabLst>
                </a:pP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由</a:t>
                </a:r>
                <a:r>
                  <a:rPr lang="en-US"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Lesser Green</a:t>
                </a: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函数计算电子密度</a:t>
                </a:r>
              </a:p>
              <a:p>
                <a:pPr marL="342900" lvl="0" indent="-342900" algn="just">
                  <a:lnSpc>
                    <a:spcPct val="150000"/>
                  </a:lnSpc>
                  <a:buFont typeface="+mj-lt"/>
                  <a:buAutoNum type="arabicPeriod"/>
                  <a:tabLst>
                    <a:tab pos="457200" algn="l"/>
                  </a:tabLst>
                </a:pP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将电子密度输入</a:t>
                </a:r>
                <a:r>
                  <a:rPr lang="en-US"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Poisson </a:t>
                </a: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方程求解新的电势</a:t>
                </a:r>
              </a:p>
              <a:p>
                <a:pPr marL="342900" lvl="0" indent="-342900" algn="just">
                  <a:lnSpc>
                    <a:spcPct val="150000"/>
                  </a:lnSpc>
                  <a:buFont typeface="+mj-lt"/>
                  <a:buAutoNum type="arabicPeriod"/>
                  <a:tabLst>
                    <a:tab pos="457200" algn="l"/>
                  </a:tabLst>
                </a:pP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更新导带分布</a:t>
                </a:r>
              </a:p>
              <a:p>
                <a:pPr marL="342900" lvl="0" indent="-342900" algn="just">
                  <a:lnSpc>
                    <a:spcPct val="150000"/>
                  </a:lnSpc>
                  <a:buFont typeface="+mj-lt"/>
                  <a:buAutoNum type="arabicPeriod"/>
                  <a:tabLst>
                    <a:tab pos="457200" algn="l"/>
                  </a:tabLst>
                </a:pP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判断收敛条件并继续迭代</a:t>
                </a:r>
              </a:p>
            </p:txBody>
          </p:sp>
        </mc:Choice>
        <mc:Fallback>
          <p:sp>
            <p:nvSpPr>
              <p:cNvPr id="11" name="文本框 10">
                <a:extLst>
                  <a:ext uri="{FF2B5EF4-FFF2-40B4-BE49-F238E27FC236}">
                    <a16:creationId xmlns:a16="http://schemas.microsoft.com/office/drawing/2014/main" id="{6C6E94C8-E13F-A34C-D75F-0720FF142BE7}"/>
                  </a:ext>
                </a:extLst>
              </p:cNvPr>
              <p:cNvSpPr txBox="1">
                <a:spLocks noRot="1" noChangeAspect="1" noMove="1" noResize="1" noEditPoints="1" noAdjustHandles="1" noChangeArrowheads="1" noChangeShapeType="1" noTextEdit="1"/>
              </p:cNvSpPr>
              <p:nvPr/>
            </p:nvSpPr>
            <p:spPr>
              <a:xfrm>
                <a:off x="423431" y="3747751"/>
                <a:ext cx="6290930" cy="2674707"/>
              </a:xfrm>
              <a:prstGeom prst="rect">
                <a:avLst/>
              </a:prstGeom>
              <a:blipFill>
                <a:blip r:embed="rId4"/>
                <a:stretch>
                  <a:fillRect l="-291" b="-456"/>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625BCD10-2E27-C085-33E8-F87BDA3AD1D4}"/>
              </a:ext>
            </a:extLst>
          </p:cNvPr>
          <p:cNvGrpSpPr/>
          <p:nvPr/>
        </p:nvGrpSpPr>
        <p:grpSpPr>
          <a:xfrm>
            <a:off x="5798632" y="1768420"/>
            <a:ext cx="2250249" cy="1310249"/>
            <a:chOff x="1854200" y="1895682"/>
            <a:chExt cx="2550160" cy="1533318"/>
          </a:xfrm>
        </p:grpSpPr>
        <p:sp>
          <p:nvSpPr>
            <p:cNvPr id="15" name="立方体 14">
              <a:extLst>
                <a:ext uri="{FF2B5EF4-FFF2-40B4-BE49-F238E27FC236}">
                  <a16:creationId xmlns:a16="http://schemas.microsoft.com/office/drawing/2014/main" id="{D7337DAF-4065-3DD0-1D31-7C44623809A0}"/>
                </a:ext>
              </a:extLst>
            </p:cNvPr>
            <p:cNvSpPr/>
            <p:nvPr/>
          </p:nvSpPr>
          <p:spPr>
            <a:xfrm>
              <a:off x="1854200" y="1895682"/>
              <a:ext cx="2550160" cy="1533318"/>
            </a:xfrm>
            <a:prstGeom prst="cube">
              <a:avLst/>
            </a:prstGeom>
            <a:solidFill>
              <a:srgbClr val="88B0BE"/>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a:extLst>
                <a:ext uri="{FF2B5EF4-FFF2-40B4-BE49-F238E27FC236}">
                  <a16:creationId xmlns:a16="http://schemas.microsoft.com/office/drawing/2014/main" id="{83070FA3-3468-D927-DBF4-09ED1FFCFAE3}"/>
                </a:ext>
              </a:extLst>
            </p:cNvPr>
            <p:cNvSpPr/>
            <p:nvPr/>
          </p:nvSpPr>
          <p:spPr>
            <a:xfrm rot="5400000" flipV="1">
              <a:off x="3579007" y="2621053"/>
              <a:ext cx="1250101" cy="274689"/>
            </a:xfrm>
            <a:prstGeom prst="parallelogram">
              <a:avLst>
                <a:gd name="adj" fmla="val 102164"/>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CC5FE50E-B140-3CE0-2252-2F2F9DCA3E21}"/>
              </a:ext>
            </a:extLst>
          </p:cNvPr>
          <p:cNvGrpSpPr/>
          <p:nvPr/>
        </p:nvGrpSpPr>
        <p:grpSpPr>
          <a:xfrm>
            <a:off x="7423060" y="2479978"/>
            <a:ext cx="812336" cy="619244"/>
            <a:chOff x="2432885" y="3977720"/>
            <a:chExt cx="812336" cy="619244"/>
          </a:xfrm>
        </p:grpSpPr>
        <p:grpSp>
          <p:nvGrpSpPr>
            <p:cNvPr id="24" name="组合 23">
              <a:extLst>
                <a:ext uri="{FF2B5EF4-FFF2-40B4-BE49-F238E27FC236}">
                  <a16:creationId xmlns:a16="http://schemas.microsoft.com/office/drawing/2014/main" id="{DE1E8273-0D27-A51D-C93D-77B5C345E24D}"/>
                </a:ext>
              </a:extLst>
            </p:cNvPr>
            <p:cNvGrpSpPr/>
            <p:nvPr/>
          </p:nvGrpSpPr>
          <p:grpSpPr>
            <a:xfrm>
              <a:off x="2538782" y="4315284"/>
              <a:ext cx="436973" cy="281680"/>
              <a:chOff x="178857" y="3056637"/>
              <a:chExt cx="436973" cy="281680"/>
            </a:xfrm>
          </p:grpSpPr>
          <p:grpSp>
            <p:nvGrpSpPr>
              <p:cNvPr id="28" name="组合 27">
                <a:extLst>
                  <a:ext uri="{FF2B5EF4-FFF2-40B4-BE49-F238E27FC236}">
                    <a16:creationId xmlns:a16="http://schemas.microsoft.com/office/drawing/2014/main" id="{F3B4BD68-7169-2B41-C61B-222B91702357}"/>
                  </a:ext>
                </a:extLst>
              </p:cNvPr>
              <p:cNvGrpSpPr/>
              <p:nvPr/>
            </p:nvGrpSpPr>
            <p:grpSpPr>
              <a:xfrm>
                <a:off x="178857" y="3056637"/>
                <a:ext cx="252108" cy="281680"/>
                <a:chOff x="3385" y="3132296"/>
                <a:chExt cx="252108" cy="281680"/>
              </a:xfrm>
            </p:grpSpPr>
            <p:cxnSp>
              <p:nvCxnSpPr>
                <p:cNvPr id="30" name="直接箭头连接符 29">
                  <a:extLst>
                    <a:ext uri="{FF2B5EF4-FFF2-40B4-BE49-F238E27FC236}">
                      <a16:creationId xmlns:a16="http://schemas.microsoft.com/office/drawing/2014/main" id="{F6F5F757-A5EA-B578-6AF5-CD0F882F5727}"/>
                    </a:ext>
                  </a:extLst>
                </p:cNvPr>
                <p:cNvCxnSpPr/>
                <p:nvPr/>
              </p:nvCxnSpPr>
              <p:spPr>
                <a:xfrm flipH="1" flipV="1">
                  <a:off x="255492" y="3132296"/>
                  <a:ext cx="1" cy="28168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E030F7F-6962-6426-FE4E-6E31A9F0FA20}"/>
                    </a:ext>
                  </a:extLst>
                </p:cNvPr>
                <p:cNvCxnSpPr/>
                <p:nvPr/>
              </p:nvCxnSpPr>
              <p:spPr>
                <a:xfrm flipH="1" flipV="1">
                  <a:off x="3385" y="3409362"/>
                  <a:ext cx="252108"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直接箭头连接符 28">
                <a:extLst>
                  <a:ext uri="{FF2B5EF4-FFF2-40B4-BE49-F238E27FC236}">
                    <a16:creationId xmlns:a16="http://schemas.microsoft.com/office/drawing/2014/main" id="{5811C790-467B-E381-B131-4607E0438E8E}"/>
                  </a:ext>
                </a:extLst>
              </p:cNvPr>
              <p:cNvCxnSpPr/>
              <p:nvPr/>
            </p:nvCxnSpPr>
            <p:spPr>
              <a:xfrm flipV="1">
                <a:off x="430224" y="3164821"/>
                <a:ext cx="185606" cy="17118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79891AA5-6FB2-BD6C-F570-E3DB98D58417}"/>
                </a:ext>
              </a:extLst>
            </p:cNvPr>
            <p:cNvSpPr txBox="1"/>
            <p:nvPr/>
          </p:nvSpPr>
          <p:spPr>
            <a:xfrm>
              <a:off x="2432885" y="4267451"/>
              <a:ext cx="223271" cy="307777"/>
            </a:xfrm>
            <a:prstGeom prst="rect">
              <a:avLst/>
            </a:prstGeom>
            <a:noFill/>
          </p:spPr>
          <p:txBody>
            <a:bodyPr wrap="square" lIns="0" rIns="0" rtlCol="0">
              <a:spAutoFit/>
            </a:bodyPr>
            <a:lstStyle/>
            <a:p>
              <a:r>
                <a:rPr lang="en-US" altLang="zh-CN" sz="1400" i="1" dirty="0">
                  <a:latin typeface="Times New Roman" panose="02020603050405020304" pitchFamily="18" charset="0"/>
                  <a:ea typeface="微软雅黑" panose="020B0503020204020204" pitchFamily="34" charset="-122"/>
                </a:rPr>
                <a:t>x</a:t>
              </a:r>
            </a:p>
          </p:txBody>
        </p:sp>
        <p:sp>
          <p:nvSpPr>
            <p:cNvPr id="26" name="文本框 25">
              <a:extLst>
                <a:ext uri="{FF2B5EF4-FFF2-40B4-BE49-F238E27FC236}">
                  <a16:creationId xmlns:a16="http://schemas.microsoft.com/office/drawing/2014/main" id="{61CC9622-D7D3-460C-E555-64F216664077}"/>
                </a:ext>
              </a:extLst>
            </p:cNvPr>
            <p:cNvSpPr txBox="1"/>
            <p:nvPr/>
          </p:nvSpPr>
          <p:spPr>
            <a:xfrm>
              <a:off x="3021950" y="4181631"/>
              <a:ext cx="223271" cy="307777"/>
            </a:xfrm>
            <a:prstGeom prst="rect">
              <a:avLst/>
            </a:prstGeom>
            <a:noFill/>
          </p:spPr>
          <p:txBody>
            <a:bodyPr wrap="square" lIns="0" rIns="0" rtlCol="0">
              <a:spAutoFit/>
            </a:bodyPr>
            <a:lstStyle/>
            <a:p>
              <a:r>
                <a:rPr lang="en-US" altLang="zh-CN" sz="1400" i="1" dirty="0">
                  <a:latin typeface="Times New Roman" panose="02020603050405020304" pitchFamily="18" charset="0"/>
                  <a:ea typeface="微软雅黑" panose="020B0503020204020204" pitchFamily="34" charset="-122"/>
                </a:rPr>
                <a:t>y</a:t>
              </a:r>
            </a:p>
          </p:txBody>
        </p:sp>
        <p:sp>
          <p:nvSpPr>
            <p:cNvPr id="27" name="文本框 26">
              <a:extLst>
                <a:ext uri="{FF2B5EF4-FFF2-40B4-BE49-F238E27FC236}">
                  <a16:creationId xmlns:a16="http://schemas.microsoft.com/office/drawing/2014/main" id="{E87E31B6-5926-552A-FD56-0AA51BD1C185}"/>
                </a:ext>
              </a:extLst>
            </p:cNvPr>
            <p:cNvSpPr txBox="1"/>
            <p:nvPr/>
          </p:nvSpPr>
          <p:spPr>
            <a:xfrm>
              <a:off x="2837574" y="3977720"/>
              <a:ext cx="223271" cy="307777"/>
            </a:xfrm>
            <a:prstGeom prst="rect">
              <a:avLst/>
            </a:prstGeom>
            <a:noFill/>
          </p:spPr>
          <p:txBody>
            <a:bodyPr wrap="square" lIns="0" rIns="0" rtlCol="0">
              <a:spAutoFit/>
            </a:bodyPr>
            <a:lstStyle/>
            <a:p>
              <a:r>
                <a:rPr lang="en-US" altLang="zh-CN" sz="1400" i="1" dirty="0">
                  <a:latin typeface="Times New Roman" panose="02020603050405020304" pitchFamily="18" charset="0"/>
                  <a:ea typeface="微软雅黑" panose="020B0503020204020204" pitchFamily="34" charset="-122"/>
                </a:rPr>
                <a:t>z</a:t>
              </a:r>
            </a:p>
          </p:txBody>
        </p:sp>
      </p:gr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886E4A4E-17FB-8410-5151-1BA231CB5C8B}"/>
                  </a:ext>
                </a:extLst>
              </p:cNvPr>
              <p:cNvSpPr txBox="1"/>
              <p:nvPr/>
            </p:nvSpPr>
            <p:spPr>
              <a:xfrm>
                <a:off x="10118933" y="1849325"/>
                <a:ext cx="1659188" cy="1225207"/>
              </a:xfrm>
              <a:prstGeom prst="rect">
                <a:avLst/>
              </a:prstGeom>
              <a:noFill/>
            </p:spPr>
            <p:txBody>
              <a:bodyPr wrap="square">
                <a:spAutoFit/>
              </a:bodyPr>
              <a:lstStyle/>
              <a:p>
                <a14:m>
                  <m:oMath xmlns:m="http://schemas.openxmlformats.org/officeDocument/2006/math">
                    <m:sSub>
                      <m:sSubPr>
                        <m:ctrlPr>
                          <a:rPr lang="en-US" altLang="zh-CN" sz="1800" b="0" i="1" kern="100" smtClean="0">
                            <a:effectLst/>
                            <a:latin typeface="Cambria Math" panose="02040503050406030204" pitchFamily="18" charset="0"/>
                            <a:ea typeface="宋体" panose="02010600030101010101" pitchFamily="2" charset="-122"/>
                          </a:rPr>
                        </m:ctrlPr>
                      </m:sSubPr>
                      <m:e>
                        <m:r>
                          <a:rPr lang="en-US" altLang="zh-CN" sz="1800" b="0" i="1" kern="100" smtClean="0">
                            <a:effectLst/>
                            <a:latin typeface="Cambria Math" panose="02040503050406030204" pitchFamily="18" charset="0"/>
                            <a:ea typeface="宋体" panose="02010600030101010101" pitchFamily="2" charset="-122"/>
                          </a:rPr>
                          <m:t>𝐿</m:t>
                        </m:r>
                      </m:e>
                      <m:sub>
                        <m:r>
                          <m:rPr>
                            <m:sty m:val="p"/>
                          </m:rPr>
                          <a:rPr lang="en-US" altLang="zh-CN" i="1" kern="100">
                            <a:latin typeface="Cambria Math" panose="02040503050406030204" pitchFamily="18" charset="0"/>
                            <a:ea typeface="宋体" panose="02010600030101010101" pitchFamily="2" charset="-122"/>
                          </a:rPr>
                          <m:t>s</m:t>
                        </m:r>
                        <m:r>
                          <a:rPr lang="en-US" altLang="zh-CN" b="0" i="1" kern="100" smtClean="0">
                            <a:latin typeface="Cambria Math" panose="02040503050406030204" pitchFamily="18" charset="0"/>
                            <a:ea typeface="宋体" panose="02010600030101010101" pitchFamily="2" charset="-122"/>
                          </a:rPr>
                          <m:t>/</m:t>
                        </m:r>
                        <m:r>
                          <a:rPr lang="en-US" altLang="zh-CN" b="0" i="1" kern="100" smtClean="0">
                            <a:latin typeface="Cambria Math" panose="02040503050406030204" pitchFamily="18" charset="0"/>
                            <a:ea typeface="宋体" panose="02010600030101010101" pitchFamily="2" charset="-122"/>
                          </a:rPr>
                          <m:t>𝑑</m:t>
                        </m:r>
                      </m:sub>
                    </m:sSub>
                  </m:oMath>
                </a14:m>
                <a:r>
                  <a:rPr lang="en-US" altLang="zh-CN" sz="1800" kern="100" dirty="0">
                    <a:effectLst/>
                    <a:latin typeface="Times New Roman" panose="02020603050405020304" pitchFamily="18" charset="0"/>
                    <a:ea typeface="宋体" panose="02010600030101010101" pitchFamily="2" charset="-122"/>
                  </a:rPr>
                  <a:t>=40nm</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14:m>
                  <m:oMath xmlns:m="http://schemas.openxmlformats.org/officeDocument/2006/math">
                    <m:sSub>
                      <m:sSubPr>
                        <m:ctrlPr>
                          <a:rPr lang="en-US" altLang="zh-CN" sz="1800" b="0" i="1" kern="100" smtClean="0">
                            <a:effectLst/>
                            <a:latin typeface="Cambria Math" panose="02040503050406030204" pitchFamily="18" charset="0"/>
                            <a:ea typeface="宋体" panose="02010600030101010101" pitchFamily="2" charset="-122"/>
                          </a:rPr>
                        </m:ctrlPr>
                      </m:sSubPr>
                      <m:e>
                        <m:r>
                          <a:rPr lang="en-US" altLang="zh-CN" sz="1800" b="0" i="1" kern="100" smtClean="0">
                            <a:effectLst/>
                            <a:latin typeface="Cambria Math" panose="02040503050406030204" pitchFamily="18" charset="0"/>
                            <a:ea typeface="宋体" panose="02010600030101010101" pitchFamily="2" charset="-122"/>
                          </a:rPr>
                          <m:t>𝐿</m:t>
                        </m:r>
                      </m:e>
                      <m:sub>
                        <m:r>
                          <a:rPr lang="en-US" altLang="zh-CN" sz="1800" b="0" i="1" kern="100" smtClean="0">
                            <a:effectLst/>
                            <a:latin typeface="Cambria Math" panose="02040503050406030204" pitchFamily="18" charset="0"/>
                            <a:ea typeface="宋体" panose="02010600030101010101" pitchFamily="2" charset="-122"/>
                          </a:rPr>
                          <m:t>𝑐h𝑎𝑛𝑛𝑒𝑙</m:t>
                        </m:r>
                      </m:sub>
                    </m:sSub>
                  </m:oMath>
                </a14:m>
                <a:r>
                  <a:rPr lang="en-US" altLang="zh-CN" sz="1800" kern="100" dirty="0">
                    <a:effectLst/>
                    <a:latin typeface="Times New Roman" panose="02020603050405020304" pitchFamily="18" charset="0"/>
                    <a:ea typeface="宋体" panose="02010600030101010101" pitchFamily="2" charset="-122"/>
                  </a:rPr>
                  <a:t>=20nm</a:t>
                </a:r>
              </a:p>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𝑡</m:t>
                        </m:r>
                      </m:e>
                      <m:sub>
                        <m:r>
                          <a:rPr lang="en-US" altLang="zh-CN" i="1">
                            <a:latin typeface="Cambria Math" panose="02040503050406030204" pitchFamily="18" charset="0"/>
                            <a:ea typeface="微软雅黑" panose="020B0503020204020204" pitchFamily="34" charset="-122"/>
                          </a:rPr>
                          <m:t>𝑠𝑖</m:t>
                        </m:r>
                      </m:sub>
                    </m:sSub>
                  </m:oMath>
                </a14:m>
                <a:r>
                  <a:rPr lang="en-US" altLang="zh-CN" dirty="0">
                    <a:latin typeface="Times New Roman" panose="02020603050405020304" pitchFamily="18" charset="0"/>
                    <a:ea typeface="微软雅黑" panose="020B0503020204020204" pitchFamily="34" charset="-122"/>
                  </a:rPr>
                  <a:t>=5 nm</a:t>
                </a:r>
              </a:p>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𝑡</m:t>
                        </m:r>
                      </m:e>
                      <m:sub>
                        <m:r>
                          <a:rPr lang="en-US" altLang="zh-CN" i="1">
                            <a:latin typeface="Cambria Math" panose="02040503050406030204" pitchFamily="18" charset="0"/>
                            <a:ea typeface="微软雅黑" panose="020B0503020204020204" pitchFamily="34" charset="-122"/>
                          </a:rPr>
                          <m:t>𝑜𝑥</m:t>
                        </m:r>
                      </m:sub>
                    </m:sSub>
                  </m:oMath>
                </a14:m>
                <a:r>
                  <a:rPr lang="en-US" altLang="zh-CN" dirty="0">
                    <a:latin typeface="Times New Roman" panose="02020603050405020304" pitchFamily="18" charset="0"/>
                    <a:ea typeface="微软雅黑" panose="020B0503020204020204" pitchFamily="34" charset="-122"/>
                  </a:rPr>
                  <a:t>=2 nm</a:t>
                </a:r>
              </a:p>
            </p:txBody>
          </p:sp>
        </mc:Choice>
        <mc:Fallback>
          <p:sp>
            <p:nvSpPr>
              <p:cNvPr id="10" name="文本框 9">
                <a:extLst>
                  <a:ext uri="{FF2B5EF4-FFF2-40B4-BE49-F238E27FC236}">
                    <a16:creationId xmlns:a16="http://schemas.microsoft.com/office/drawing/2014/main" id="{886E4A4E-17FB-8410-5151-1BA231CB5C8B}"/>
                  </a:ext>
                </a:extLst>
              </p:cNvPr>
              <p:cNvSpPr txBox="1">
                <a:spLocks noRot="1" noChangeAspect="1" noMove="1" noResize="1" noEditPoints="1" noAdjustHandles="1" noChangeArrowheads="1" noChangeShapeType="1" noTextEdit="1"/>
              </p:cNvSpPr>
              <p:nvPr/>
            </p:nvSpPr>
            <p:spPr>
              <a:xfrm>
                <a:off x="10118933" y="1849325"/>
                <a:ext cx="1659188" cy="1225207"/>
              </a:xfrm>
              <a:prstGeom prst="rect">
                <a:avLst/>
              </a:prstGeom>
              <a:blipFill>
                <a:blip r:embed="rId5"/>
                <a:stretch>
                  <a:fillRect t="-2488" r="-1103" b="-69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a:extLst>
                  <a:ext uri="{FF2B5EF4-FFF2-40B4-BE49-F238E27FC236}">
                    <a16:creationId xmlns:a16="http://schemas.microsoft.com/office/drawing/2014/main" id="{A2AF2553-E420-5C8F-F3BB-C946FD233E46}"/>
                  </a:ext>
                </a:extLst>
              </p:cNvPr>
              <p:cNvSpPr txBox="1"/>
              <p:nvPr/>
            </p:nvSpPr>
            <p:spPr>
              <a:xfrm>
                <a:off x="8407519" y="1849325"/>
                <a:ext cx="2154995" cy="1225207"/>
              </a:xfrm>
              <a:prstGeom prst="rect">
                <a:avLst/>
              </a:prstGeom>
              <a:noFill/>
            </p:spPr>
            <p:txBody>
              <a:bodyPr wrap="square">
                <a:spAutoFit/>
              </a:bodyPr>
              <a:lstStyle/>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𝑁</m:t>
                        </m:r>
                      </m:e>
                      <m:sub>
                        <m:r>
                          <a:rPr lang="en-US" altLang="zh-CN" i="1">
                            <a:latin typeface="Cambria Math" panose="02040503050406030204" pitchFamily="18" charset="0"/>
                            <a:ea typeface="微软雅黑" panose="020B0503020204020204" pitchFamily="34" charset="-122"/>
                          </a:rPr>
                          <m:t>𝑑</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sub>
                    </m:sSub>
                  </m:oMath>
                </a14:m>
                <a:r>
                  <a:rPr lang="en-US" altLang="zh-CN" dirty="0">
                    <a:latin typeface="Times New Roman" panose="02020603050405020304" pitchFamily="18" charset="0"/>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10</m:t>
                        </m:r>
                      </m:e>
                      <m:sup>
                        <m:r>
                          <a:rPr lang="en-US" altLang="zh-CN" i="1">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6</m:t>
                        </m:r>
                      </m:sup>
                    </m:sSup>
                    <m:r>
                      <a:rPr lang="en-US" altLang="zh-CN" i="1">
                        <a:latin typeface="Cambria Math" panose="02040503050406030204" pitchFamily="18" charset="0"/>
                        <a:ea typeface="微软雅黑" panose="020B0503020204020204" pitchFamily="34" charset="-122"/>
                      </a:rPr>
                      <m:t> </m:t>
                    </m:r>
                    <m:sSup>
                      <m:sSupPr>
                        <m:ctrlPr>
                          <a:rPr lang="en-US" altLang="zh-CN" i="1">
                            <a:latin typeface="Cambria Math" panose="02040503050406030204" pitchFamily="18" charset="0"/>
                            <a:ea typeface="微软雅黑" panose="020B0503020204020204" pitchFamily="34" charset="-122"/>
                          </a:rPr>
                        </m:ctrlPr>
                      </m:sSupPr>
                      <m:e>
                        <m:r>
                          <m:rPr>
                            <m:sty m:val="p"/>
                          </m:rPr>
                          <a:rPr lang="en-US" altLang="zh-CN">
                            <a:latin typeface="Cambria Math" panose="02040503050406030204" pitchFamily="18" charset="0"/>
                            <a:ea typeface="微软雅黑" panose="020B0503020204020204" pitchFamily="34" charset="-122"/>
                          </a:rPr>
                          <m:t>m</m:t>
                        </m:r>
                      </m:e>
                      <m:sup>
                        <m:r>
                          <a:rPr lang="en-US" altLang="zh-CN">
                            <a:latin typeface="Cambria Math" panose="02040503050406030204" pitchFamily="18" charset="0"/>
                            <a:ea typeface="微软雅黑" panose="020B0503020204020204" pitchFamily="34" charset="-122"/>
                          </a:rPr>
                          <m:t>−3</m:t>
                        </m:r>
                      </m:sup>
                    </m:sSup>
                  </m:oMath>
                </a14:m>
                <a:endParaRPr lang="en-US" altLang="zh-CN" dirty="0">
                  <a:latin typeface="Times New Roman" panose="02020603050405020304" pitchFamily="18" charset="0"/>
                  <a:ea typeface="微软雅黑" panose="020B0503020204020204" pitchFamily="34" charset="-122"/>
                </a:endParaRPr>
              </a:p>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𝑁</m:t>
                        </m:r>
                      </m:e>
                      <m:sub>
                        <m:r>
                          <a:rPr lang="en-US" altLang="zh-CN" i="1">
                            <a:latin typeface="Cambria Math" panose="02040503050406030204" pitchFamily="18" charset="0"/>
                            <a:ea typeface="微软雅黑" panose="020B0503020204020204" pitchFamily="34" charset="-122"/>
                          </a:rPr>
                          <m:t>𝑐</m:t>
                        </m:r>
                      </m:sub>
                    </m:sSub>
                  </m:oMath>
                </a14:m>
                <a:r>
                  <a:rPr lang="en-US" altLang="zh-CN" dirty="0">
                    <a:latin typeface="Times New Roman" panose="02020603050405020304" pitchFamily="18" charset="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10</m:t>
                        </m:r>
                      </m:e>
                      <m:sup>
                        <m:r>
                          <a:rPr lang="en-US" altLang="zh-CN" i="1">
                            <a:latin typeface="Cambria Math" panose="02040503050406030204" pitchFamily="18" charset="0"/>
                            <a:ea typeface="微软雅黑" panose="020B0503020204020204" pitchFamily="34" charset="-122"/>
                          </a:rPr>
                          <m:t>22</m:t>
                        </m:r>
                      </m:sup>
                    </m:sSup>
                    <m:r>
                      <a:rPr lang="en-US" altLang="zh-CN" i="1">
                        <a:latin typeface="Cambria Math" panose="02040503050406030204" pitchFamily="18" charset="0"/>
                        <a:ea typeface="微软雅黑" panose="020B0503020204020204" pitchFamily="34" charset="-122"/>
                      </a:rPr>
                      <m:t> </m:t>
                    </m:r>
                    <m:sSup>
                      <m:sSupPr>
                        <m:ctrlPr>
                          <a:rPr lang="en-US" altLang="zh-CN" i="1">
                            <a:latin typeface="Cambria Math" panose="02040503050406030204" pitchFamily="18" charset="0"/>
                            <a:ea typeface="微软雅黑" panose="020B0503020204020204" pitchFamily="34" charset="-122"/>
                          </a:rPr>
                        </m:ctrlPr>
                      </m:sSupPr>
                      <m:e>
                        <m:r>
                          <m:rPr>
                            <m:sty m:val="p"/>
                          </m:rPr>
                          <a:rPr lang="en-US" altLang="zh-CN">
                            <a:latin typeface="Cambria Math" panose="02040503050406030204" pitchFamily="18" charset="0"/>
                            <a:ea typeface="微软雅黑" panose="020B0503020204020204" pitchFamily="34" charset="-122"/>
                          </a:rPr>
                          <m:t>m</m:t>
                        </m:r>
                      </m:e>
                      <m:sup>
                        <m:r>
                          <a:rPr lang="en-US" altLang="zh-CN">
                            <a:latin typeface="Cambria Math" panose="02040503050406030204" pitchFamily="18" charset="0"/>
                            <a:ea typeface="微软雅黑" panose="020B0503020204020204" pitchFamily="34" charset="-122"/>
                          </a:rPr>
                          <m:t>−3</m:t>
                        </m:r>
                      </m:sup>
                    </m:sSup>
                  </m:oMath>
                </a14:m>
                <a:endParaRPr lang="en-US" altLang="zh-CN" dirty="0">
                  <a:latin typeface="Times New Roman" panose="02020603050405020304" pitchFamily="18" charset="0"/>
                  <a:ea typeface="微软雅黑" panose="020B0503020204020204" pitchFamily="34" charset="-122"/>
                </a:endParaRPr>
              </a:p>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𝜖</m:t>
                        </m:r>
                      </m:e>
                      <m:sub>
                        <m:r>
                          <a:rPr lang="en-US" altLang="zh-CN" i="1">
                            <a:latin typeface="Cambria Math" panose="02040503050406030204" pitchFamily="18" charset="0"/>
                            <a:ea typeface="微软雅黑" panose="020B0503020204020204" pitchFamily="34" charset="-122"/>
                          </a:rPr>
                          <m:t>𝑜𝑥</m:t>
                        </m:r>
                      </m:sub>
                    </m:sSub>
                  </m:oMath>
                </a14:m>
                <a:r>
                  <a:rPr lang="en-US" altLang="zh-CN" dirty="0">
                    <a:latin typeface="Times New Roman" panose="02020603050405020304" pitchFamily="18" charset="0"/>
                    <a:ea typeface="微软雅黑" panose="020B0503020204020204" pitchFamily="34" charset="-122"/>
                  </a:rPr>
                  <a:t>=3.9</a:t>
                </a:r>
              </a:p>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𝑡</m:t>
                        </m:r>
                      </m:e>
                      <m:sub>
                        <m:r>
                          <a:rPr lang="en-US" altLang="zh-CN" i="1">
                            <a:latin typeface="Cambria Math" panose="02040503050406030204" pitchFamily="18" charset="0"/>
                            <a:ea typeface="微软雅黑" panose="020B0503020204020204" pitchFamily="34" charset="-122"/>
                          </a:rPr>
                          <m:t>𝑜𝑥</m:t>
                        </m:r>
                      </m:sub>
                    </m:sSub>
                  </m:oMath>
                </a14:m>
                <a:r>
                  <a:rPr lang="en-US" altLang="zh-CN" dirty="0">
                    <a:latin typeface="Times New Roman" panose="02020603050405020304" pitchFamily="18" charset="0"/>
                    <a:ea typeface="微软雅黑" panose="020B0503020204020204" pitchFamily="34" charset="-122"/>
                  </a:rPr>
                  <a:t>=2 nm</a:t>
                </a:r>
              </a:p>
            </p:txBody>
          </p:sp>
        </mc:Choice>
        <mc:Fallback>
          <p:sp>
            <p:nvSpPr>
              <p:cNvPr id="34" name="文本框 33">
                <a:extLst>
                  <a:ext uri="{FF2B5EF4-FFF2-40B4-BE49-F238E27FC236}">
                    <a16:creationId xmlns:a16="http://schemas.microsoft.com/office/drawing/2014/main" id="{A2AF2553-E420-5C8F-F3BB-C946FD233E46}"/>
                  </a:ext>
                </a:extLst>
              </p:cNvPr>
              <p:cNvSpPr txBox="1">
                <a:spLocks noRot="1" noChangeAspect="1" noMove="1" noResize="1" noEditPoints="1" noAdjustHandles="1" noChangeArrowheads="1" noChangeShapeType="1" noTextEdit="1"/>
              </p:cNvSpPr>
              <p:nvPr/>
            </p:nvSpPr>
            <p:spPr>
              <a:xfrm>
                <a:off x="8407519" y="1849325"/>
                <a:ext cx="2154995" cy="1225207"/>
              </a:xfrm>
              <a:prstGeom prst="rect">
                <a:avLst/>
              </a:prstGeom>
              <a:blipFill>
                <a:blip r:embed="rId6"/>
                <a:stretch>
                  <a:fillRect t="-2488" b="-6965"/>
                </a:stretch>
              </a:blipFill>
            </p:spPr>
            <p:txBody>
              <a:bodyPr/>
              <a:lstStyle/>
              <a:p>
                <a:r>
                  <a:rPr lang="zh-CN" altLang="en-US">
                    <a:noFill/>
                  </a:rPr>
                  <a:t> </a:t>
                </a:r>
              </a:p>
            </p:txBody>
          </p:sp>
        </mc:Fallback>
      </mc:AlternateContent>
      <p:sp>
        <p:nvSpPr>
          <p:cNvPr id="35" name="文本框 34">
            <a:extLst>
              <a:ext uri="{FF2B5EF4-FFF2-40B4-BE49-F238E27FC236}">
                <a16:creationId xmlns:a16="http://schemas.microsoft.com/office/drawing/2014/main" id="{839711B5-A25E-5886-3B71-3749F308BD09}"/>
              </a:ext>
            </a:extLst>
          </p:cNvPr>
          <p:cNvSpPr txBox="1"/>
          <p:nvPr/>
        </p:nvSpPr>
        <p:spPr>
          <a:xfrm>
            <a:off x="5609257" y="6083904"/>
            <a:ext cx="5939409" cy="338554"/>
          </a:xfrm>
          <a:prstGeom prst="rect">
            <a:avLst/>
          </a:prstGeom>
          <a:noFill/>
        </p:spPr>
        <p:txBody>
          <a:bodyPr wrap="square" rtlCol="0" anchor="t">
            <a:spAutoFit/>
          </a:bodyPr>
          <a:lstStyle/>
          <a:p>
            <a:pPr algn="ct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图</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DC-NEGF</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的结构示意图和计算结果，网格尺寸为</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161x81x81</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mc:AlternateContent xmlns:mc="http://schemas.openxmlformats.org/markup-compatibility/2006">
        <mc:Choice xmlns:a14="http://schemas.microsoft.com/office/drawing/2010/main" Requires="a14">
          <p:sp>
            <p:nvSpPr>
              <p:cNvPr id="36" name="文本框 7">
                <a:extLst>
                  <a:ext uri="{FF2B5EF4-FFF2-40B4-BE49-F238E27FC236}">
                    <a16:creationId xmlns:a16="http://schemas.microsoft.com/office/drawing/2014/main" id="{43311C37-6AD5-9984-761A-8CFC45104A65}"/>
                  </a:ext>
                </a:extLst>
              </p:cNvPr>
              <p:cNvSpPr txBox="1"/>
              <p:nvPr/>
            </p:nvSpPr>
            <p:spPr>
              <a:xfrm>
                <a:off x="446315" y="1556648"/>
                <a:ext cx="4572184" cy="923330"/>
              </a:xfrm>
              <a:prstGeom prst="rect">
                <a:avLst/>
              </a:prstGeom>
              <a:noFill/>
            </p:spPr>
            <p:txBody>
              <a:bodyPr wrap="square" rtlCol="0">
                <a:spAutoFit/>
              </a:bodyPr>
              <a:lstStyle/>
              <a:p>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NEGF-</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Possion</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的耦合关系在于：</a:t>
                </a:r>
                <a:endParaRPr lang="zh-CN"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eqArr>
                        <m:eqArrPr>
                          <m:ctrlPr>
                            <a:rPr lang="zh-CN" altLang="zh-CN" b="1">
                              <a:solidFill>
                                <a:srgbClr val="0000CC"/>
                              </a:solidFill>
                            </a:rPr>
                          </m:ctrlPr>
                        </m:eqArrPr>
                        <m:e>
                          <m:r>
                            <a:rPr lang="en-US" altLang="zh-CN" b="1">
                              <a:solidFill>
                                <a:srgbClr val="0000CC"/>
                              </a:solidFill>
                            </a:rPr>
                            <m:t>𝑁𝐸𝐺𝐹</m:t>
                          </m:r>
                          <m:d>
                            <m:dPr>
                              <m:ctrlPr>
                                <a:rPr lang="zh-CN" altLang="zh-CN" b="1">
                                  <a:solidFill>
                                    <a:srgbClr val="0000CC"/>
                                  </a:solidFill>
                                </a:rPr>
                              </m:ctrlPr>
                            </m:dPr>
                            <m:e>
                              <m:sSub>
                                <m:sSubPr>
                                  <m:ctrlPr>
                                    <a:rPr lang="zh-CN" altLang="zh-CN" b="1">
                                      <a:solidFill>
                                        <a:srgbClr val="0000CC"/>
                                      </a:solidFill>
                                    </a:rPr>
                                  </m:ctrlPr>
                                </m:sSubPr>
                                <m:e>
                                  <m:r>
                                    <a:rPr lang="en-US" altLang="zh-CN" b="1">
                                      <a:solidFill>
                                        <a:srgbClr val="0000CC"/>
                                      </a:solidFill>
                                    </a:rPr>
                                    <m:t>𝐸</m:t>
                                  </m:r>
                                </m:e>
                                <m:sub>
                                  <m:r>
                                    <a:rPr lang="en-US" altLang="zh-CN" b="1">
                                      <a:solidFill>
                                        <a:srgbClr val="0000CC"/>
                                      </a:solidFill>
                                    </a:rPr>
                                    <m:t>𝑐</m:t>
                                  </m:r>
                                </m:sub>
                              </m:sSub>
                            </m:e>
                          </m:d>
                          <m:r>
                            <a:rPr lang="en-US" altLang="zh-CN" b="1">
                              <a:solidFill>
                                <a:srgbClr val="0000CC"/>
                              </a:solidFill>
                            </a:rPr>
                            <m:t>→</m:t>
                          </m:r>
                          <m:r>
                            <a:rPr lang="en-US" altLang="zh-CN" b="1">
                              <a:solidFill>
                                <a:srgbClr val="0000CC"/>
                              </a:solidFill>
                            </a:rPr>
                            <m:t>𝑛</m:t>
                          </m:r>
                          <m:d>
                            <m:dPr>
                              <m:ctrlPr>
                                <a:rPr lang="zh-CN" altLang="zh-CN" b="1">
                                  <a:solidFill>
                                    <a:srgbClr val="0000CC"/>
                                  </a:solidFill>
                                </a:rPr>
                              </m:ctrlPr>
                            </m:dPr>
                            <m:e>
                              <m:r>
                                <a:rPr lang="en-US" altLang="zh-CN" b="1">
                                  <a:solidFill>
                                    <a:srgbClr val="0000CC"/>
                                  </a:solidFill>
                                </a:rPr>
                                <m:t>𝐫</m:t>
                              </m:r>
                            </m:e>
                          </m:d>
                          <m:r>
                            <a:rPr lang="en-US" altLang="zh-CN" b="1">
                              <a:solidFill>
                                <a:srgbClr val="0000CC"/>
                              </a:solidFill>
                            </a:rPr>
                            <m:t> </m:t>
                          </m:r>
                        </m:e>
                      </m:eqArr>
                    </m:oMath>
                  </m:oMathPara>
                </a14:m>
                <a:endPar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a:p>
                <a14:m>
                  <m:oMathPara xmlns:m="http://schemas.openxmlformats.org/officeDocument/2006/math">
                    <m:oMathParaPr>
                      <m:jc m:val="centerGroup"/>
                    </m:oMathParaPr>
                    <m:oMath xmlns:m="http://schemas.openxmlformats.org/officeDocument/2006/math">
                      <m:eqArr>
                        <m:eqArrPr>
                          <m:ctrlPr>
                            <a:rPr lang="zh-CN" altLang="zh-CN" b="1" i="1">
                              <a:solidFill>
                                <a:srgbClr val="0000CC"/>
                              </a:solidFill>
                              <a:latin typeface="Cambria Math" panose="02040503050406030204" pitchFamily="18" charset="0"/>
                            </a:rPr>
                          </m:ctrlPr>
                        </m:eqArrPr>
                        <m:e>
                          <m:r>
                            <a:rPr lang="en-US" altLang="zh-CN" b="1">
                              <a:solidFill>
                                <a:srgbClr val="0000CC"/>
                              </a:solidFill>
                              <a:latin typeface="Cambria Math" panose="02040503050406030204" pitchFamily="18" charset="0"/>
                            </a:rPr>
                            <m:t>𝑃𝑜𝑖𝑠𝑠𝑜𝑛</m:t>
                          </m:r>
                          <m:d>
                            <m:dPr>
                              <m:ctrlPr>
                                <a:rPr lang="zh-CN" altLang="zh-CN" b="1" i="1">
                                  <a:solidFill>
                                    <a:srgbClr val="0000CC"/>
                                  </a:solidFill>
                                  <a:latin typeface="Cambria Math" panose="02040503050406030204" pitchFamily="18" charset="0"/>
                                </a:rPr>
                              </m:ctrlPr>
                            </m:dPr>
                            <m:e>
                              <m:r>
                                <a:rPr lang="en-US" altLang="zh-CN" b="1">
                                  <a:solidFill>
                                    <a:srgbClr val="0000CC"/>
                                  </a:solidFill>
                                  <a:latin typeface="Cambria Math" panose="02040503050406030204" pitchFamily="18" charset="0"/>
                                </a:rPr>
                                <m:t>𝑛</m:t>
                              </m:r>
                            </m:e>
                          </m:d>
                          <m:r>
                            <a:rPr lang="en-US" altLang="zh-CN" b="1">
                              <a:solidFill>
                                <a:srgbClr val="0000CC"/>
                              </a:solidFill>
                              <a:latin typeface="Cambria Math" panose="02040503050406030204" pitchFamily="18" charset="0"/>
                            </a:rPr>
                            <m:t>→</m:t>
                          </m:r>
                          <m:sSub>
                            <m:sSubPr>
                              <m:ctrlPr>
                                <a:rPr lang="zh-CN" altLang="zh-CN" b="1" i="1">
                                  <a:solidFill>
                                    <a:srgbClr val="0000CC"/>
                                  </a:solidFill>
                                  <a:latin typeface="Cambria Math" panose="02040503050406030204" pitchFamily="18" charset="0"/>
                                </a:rPr>
                              </m:ctrlPr>
                            </m:sSubPr>
                            <m:e>
                              <m:r>
                                <a:rPr lang="en-US" altLang="zh-CN" b="1">
                                  <a:solidFill>
                                    <a:srgbClr val="0000CC"/>
                                  </a:solidFill>
                                  <a:latin typeface="Cambria Math" panose="02040503050406030204" pitchFamily="18" charset="0"/>
                                </a:rPr>
                                <m:t>𝐸</m:t>
                              </m:r>
                            </m:e>
                            <m:sub>
                              <m:r>
                                <a:rPr lang="en-US" altLang="zh-CN" b="1">
                                  <a:solidFill>
                                    <a:srgbClr val="0000CC"/>
                                  </a:solidFill>
                                  <a:latin typeface="Cambria Math" panose="02040503050406030204" pitchFamily="18" charset="0"/>
                                </a:rPr>
                                <m:t>𝑐</m:t>
                              </m:r>
                            </m:sub>
                          </m:sSub>
                          <m:d>
                            <m:dPr>
                              <m:ctrlPr>
                                <a:rPr lang="zh-CN" altLang="zh-CN" b="1" i="1">
                                  <a:solidFill>
                                    <a:srgbClr val="0000CC"/>
                                  </a:solidFill>
                                  <a:latin typeface="Cambria Math" panose="02040503050406030204" pitchFamily="18" charset="0"/>
                                </a:rPr>
                              </m:ctrlPr>
                            </m:dPr>
                            <m:e>
                              <m:r>
                                <a:rPr lang="en-US" altLang="zh-CN" b="1">
                                  <a:solidFill>
                                    <a:srgbClr val="0000CC"/>
                                  </a:solidFill>
                                  <a:latin typeface="Cambria Math" panose="02040503050406030204" pitchFamily="18" charset="0"/>
                                </a:rPr>
                                <m:t>𝐫</m:t>
                              </m:r>
                            </m:e>
                          </m:d>
                        </m:e>
                      </m:eqArr>
                      <m:r>
                        <a:rPr lang="en-US" altLang="zh-CN" b="1">
                          <a:solidFill>
                            <a:srgbClr val="0000CC"/>
                          </a:solidFill>
                          <a:latin typeface="Cambria Math" panose="02040503050406030204" pitchFamily="18" charset="0"/>
                        </a:rPr>
                        <m:t> </m:t>
                      </m:r>
                    </m:oMath>
                  </m:oMathPara>
                </a14:m>
                <a:endPar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36" name="文本框 7">
                <a:extLst>
                  <a:ext uri="{FF2B5EF4-FFF2-40B4-BE49-F238E27FC236}">
                    <a16:creationId xmlns:a16="http://schemas.microsoft.com/office/drawing/2014/main" id="{43311C37-6AD5-9984-761A-8CFC45104A65}"/>
                  </a:ext>
                </a:extLst>
              </p:cNvPr>
              <p:cNvSpPr txBox="1">
                <a:spLocks noRot="1" noChangeAspect="1" noMove="1" noResize="1" noEditPoints="1" noAdjustHandles="1" noChangeArrowheads="1" noChangeShapeType="1" noTextEdit="1"/>
              </p:cNvSpPr>
              <p:nvPr/>
            </p:nvSpPr>
            <p:spPr>
              <a:xfrm>
                <a:off x="446315" y="1556648"/>
                <a:ext cx="4572184" cy="923330"/>
              </a:xfrm>
              <a:prstGeom prst="rect">
                <a:avLst/>
              </a:prstGeom>
              <a:blipFill>
                <a:blip r:embed="rId7"/>
                <a:stretch>
                  <a:fillRect l="-1067" t="-32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文本框 7">
                <a:extLst>
                  <a:ext uri="{FF2B5EF4-FFF2-40B4-BE49-F238E27FC236}">
                    <a16:creationId xmlns:a16="http://schemas.microsoft.com/office/drawing/2014/main" id="{23B1E920-C61B-10EA-B5DD-D6B9F25651C7}"/>
                  </a:ext>
                </a:extLst>
              </p:cNvPr>
              <p:cNvSpPr txBox="1"/>
              <p:nvPr/>
            </p:nvSpPr>
            <p:spPr>
              <a:xfrm>
                <a:off x="330928" y="2555999"/>
                <a:ext cx="5105674" cy="1077218"/>
              </a:xfrm>
              <a:prstGeom prst="rect">
                <a:avLst/>
              </a:prstGeom>
              <a:noFill/>
            </p:spPr>
            <p:txBody>
              <a:bodyPr wrap="square" rtlCol="0">
                <a:spAutoFit/>
              </a:bodyPr>
              <a:lstStyle/>
              <a:p>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其中 </a:t>
                </a:r>
                <a14:m>
                  <m:oMath xmlns:m="http://schemas.openxmlformats.org/officeDocument/2006/math">
                    <m:sSub>
                      <m:sSubPr>
                        <m:ctrlPr>
                          <a:rPr lang="zh-CN" altLang="zh-CN" sz="1600" b="1" i="1">
                            <a:solidFill>
                              <a:srgbClr val="0000CC"/>
                            </a:solidFill>
                            <a:latin typeface="Cambria Math" panose="02040503050406030204" pitchFamily="18" charset="0"/>
                          </a:rPr>
                        </m:ctrlPr>
                      </m:sSubPr>
                      <m:e>
                        <m:r>
                          <a:rPr lang="en-US" altLang="zh-CN" sz="1600" b="1" i="1">
                            <a:solidFill>
                              <a:srgbClr val="0000CC"/>
                            </a:solidFill>
                            <a:latin typeface="Cambria Math" panose="02040503050406030204" pitchFamily="18" charset="0"/>
                          </a:rPr>
                          <m:t>𝑬</m:t>
                        </m:r>
                      </m:e>
                      <m:sub>
                        <m:r>
                          <a:rPr lang="en-US" altLang="zh-CN" sz="1600" b="1" i="1">
                            <a:solidFill>
                              <a:srgbClr val="0000CC"/>
                            </a:solidFill>
                            <a:latin typeface="Cambria Math" panose="02040503050406030204" pitchFamily="18" charset="0"/>
                          </a:rPr>
                          <m:t>𝒄</m:t>
                        </m:r>
                      </m:sub>
                    </m:sSub>
                  </m:oMath>
                </a14:m>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为导带底能级，</a:t>
                </a:r>
                <a14:m>
                  <m:oMath xmlns:m="http://schemas.openxmlformats.org/officeDocument/2006/math">
                    <m:r>
                      <a:rPr lang="en-US" altLang="zh-CN" sz="16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m:t>𝒏</m:t>
                    </m:r>
                    <m:r>
                      <a:rPr lang="en-US" altLang="zh-CN" sz="16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m:t>(</m:t>
                    </m:r>
                    <m:r>
                      <a:rPr lang="en-US" altLang="zh-CN" sz="16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m:t>𝒓</m:t>
                    </m:r>
                    <m:r>
                      <a:rPr lang="en-US" altLang="zh-CN" sz="16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m:t>)</m:t>
                    </m:r>
                  </m:oMath>
                </a14:m>
                <a:r>
                  <a:rPr lang="en-US"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为电子密度。导带能级影响电子输运过程，而电子密度又反过来改变电势分布</a:t>
                </a:r>
                <a:r>
                  <a:rPr lang="zh-CN" altLang="en-US"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，为此采用以下自洽迭代求解过程</a:t>
                </a:r>
                <a:r>
                  <a:rPr lang="en-US"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(Self-Consistent-</a:t>
                </a:r>
                <a:r>
                  <a:rPr lang="en-US" altLang="zh-CN" sz="1600"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Loop,SCF</a:t>
                </a:r>
                <a:r>
                  <a:rPr lang="en-US" altLang="zh-CN"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Adobe 黑体 Std"/>
                </a:endParaRPr>
              </a:p>
            </p:txBody>
          </p:sp>
        </mc:Choice>
        <mc:Fallback>
          <p:sp>
            <p:nvSpPr>
              <p:cNvPr id="37" name="文本框 7">
                <a:extLst>
                  <a:ext uri="{FF2B5EF4-FFF2-40B4-BE49-F238E27FC236}">
                    <a16:creationId xmlns:a16="http://schemas.microsoft.com/office/drawing/2014/main" id="{23B1E920-C61B-10EA-B5DD-D6B9F25651C7}"/>
                  </a:ext>
                </a:extLst>
              </p:cNvPr>
              <p:cNvSpPr txBox="1">
                <a:spLocks noRot="1" noChangeAspect="1" noMove="1" noResize="1" noEditPoints="1" noAdjustHandles="1" noChangeArrowheads="1" noChangeShapeType="1" noTextEdit="1"/>
              </p:cNvSpPr>
              <p:nvPr/>
            </p:nvSpPr>
            <p:spPr>
              <a:xfrm>
                <a:off x="330928" y="2555999"/>
                <a:ext cx="5105674" cy="1077218"/>
              </a:xfrm>
              <a:prstGeom prst="rect">
                <a:avLst/>
              </a:prstGeom>
              <a:blipFill>
                <a:blip r:embed="rId8"/>
                <a:stretch>
                  <a:fillRect l="-597" t="-1695" b="-6215"/>
                </a:stretch>
              </a:blipFill>
            </p:spPr>
            <p:txBody>
              <a:bodyPr/>
              <a:lstStyle/>
              <a:p>
                <a:r>
                  <a:rPr lang="zh-CN" altLang="en-US">
                    <a:noFill/>
                  </a:rPr>
                  <a:t> </a:t>
                </a:r>
              </a:p>
            </p:txBody>
          </p:sp>
        </mc:Fallback>
      </mc:AlternateContent>
      <p:sp>
        <p:nvSpPr>
          <p:cNvPr id="38" name="文本框 37">
            <a:extLst>
              <a:ext uri="{FF2B5EF4-FFF2-40B4-BE49-F238E27FC236}">
                <a16:creationId xmlns:a16="http://schemas.microsoft.com/office/drawing/2014/main" id="{D77C0631-549D-FF0D-9611-D9006CA0B490}"/>
              </a:ext>
            </a:extLst>
          </p:cNvPr>
          <p:cNvSpPr txBox="1"/>
          <p:nvPr/>
        </p:nvSpPr>
        <p:spPr>
          <a:xfrm>
            <a:off x="102438" y="668316"/>
            <a:ext cx="4264309" cy="523220"/>
          </a:xfrm>
          <a:prstGeom prst="rect">
            <a:avLst/>
          </a:prstGeom>
          <a:noFill/>
        </p:spPr>
        <p:txBody>
          <a:bodyPr wrap="none" rtlCol="0">
            <a:spAutoFit/>
          </a:bodyPr>
          <a:lstStyle/>
          <a:p>
            <a:pPr marL="285750" indent="-285750" algn="l">
              <a:buFont typeface="Arial" panose="020B0604020202020204" pitchFamily="34" charset="0"/>
              <a:buChar char="•"/>
            </a:pPr>
            <a:r>
              <a:rPr lang="en-US" altLang="zh-CN" sz="2800" b="1" dirty="0">
                <a:latin typeface="Arial" panose="020B0604020202020204" pitchFamily="34" charset="0"/>
                <a:ea typeface="微软雅黑" panose="020B0503020204020204" pitchFamily="34" charset="-122"/>
                <a:cs typeface="Arial" panose="020B0604020202020204" pitchFamily="34" charset="0"/>
                <a:sym typeface="Adobe 黑体 Std"/>
              </a:rPr>
              <a:t>DC-NEGF</a:t>
            </a:r>
            <a:r>
              <a:rPr lang="zh-CN" altLang="en-US" sz="2800" b="1" dirty="0">
                <a:latin typeface="Arial" panose="020B0604020202020204" pitchFamily="34" charset="0"/>
                <a:ea typeface="微软雅黑" panose="020B0503020204020204" pitchFamily="34" charset="-122"/>
                <a:cs typeface="Arial" panose="020B0604020202020204" pitchFamily="34" charset="0"/>
                <a:sym typeface="Adobe 黑体 Std"/>
              </a:rPr>
              <a:t>物理求解体系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9375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dobe 黑体 Std"/>
              <a:ea typeface="微软雅黑" panose="020B0503020204020204" pitchFamily="34" charset="-122"/>
              <a:sym typeface="Adobe 黑体 Std"/>
            </a:endParaRPr>
          </a:p>
        </p:txBody>
      </p:sp>
      <p:sp>
        <p:nvSpPr>
          <p:cNvPr id="5" name="文本框 4"/>
          <p:cNvSpPr txBox="1"/>
          <p:nvPr/>
        </p:nvSpPr>
        <p:spPr>
          <a:xfrm>
            <a:off x="113231" y="21699"/>
            <a:ext cx="10607391" cy="584775"/>
          </a:xfrm>
          <a:prstGeom prst="rect">
            <a:avLst/>
          </a:prstGeom>
          <a:noFill/>
        </p:spPr>
        <p:txBody>
          <a:bodyPr wrap="none" rtlCol="0">
            <a:spAutoFit/>
          </a:bodyPr>
          <a:lstStyle/>
          <a:p>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基于</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TCAD </a:t>
            </a:r>
            <a:r>
              <a:rPr lang="en-US" altLang="zh-CN" sz="3200" b="1" dirty="0" err="1">
                <a:latin typeface="Times New Roman" panose="02020603050405020304" pitchFamily="18" charset="0"/>
                <a:ea typeface="微软雅黑" panose="020B0503020204020204" pitchFamily="34" charset="-122"/>
                <a:cs typeface="Times New Roman" panose="02020603050405020304" pitchFamily="18" charset="0"/>
                <a:sym typeface="Adobe 黑体 Std"/>
              </a:rPr>
              <a:t>SDeivce</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a:t>
            </a:r>
            <a:r>
              <a:rPr lang="en-US" altLang="zh-CN" sz="3200" b="1" dirty="0" err="1">
                <a:latin typeface="Times New Roman" panose="02020603050405020304" pitchFamily="18" charset="0"/>
                <a:ea typeface="微软雅黑" panose="020B0503020204020204" pitchFamily="34" charset="-122"/>
                <a:cs typeface="Times New Roman" panose="02020603050405020304" pitchFamily="18" charset="0"/>
                <a:sym typeface="Adobe 黑体 Std"/>
              </a:rPr>
              <a:t>FinFET</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的物理模型与电学特性校准</a:t>
            </a:r>
          </a:p>
        </p:txBody>
      </p:sp>
      <p:sp>
        <p:nvSpPr>
          <p:cNvPr id="2" name="文本框 1"/>
          <p:cNvSpPr txBox="1"/>
          <p:nvPr/>
        </p:nvSpPr>
        <p:spPr>
          <a:xfrm>
            <a:off x="6431021" y="6241736"/>
            <a:ext cx="4570095" cy="337185"/>
          </a:xfrm>
          <a:prstGeom prst="rect">
            <a:avLst/>
          </a:prstGeom>
          <a:noFill/>
        </p:spPr>
        <p:txBody>
          <a:bodyPr wrap="square" rtlCol="0" anchor="t">
            <a:spAutoFit/>
          </a:bodyPr>
          <a:lstStyle/>
          <a:p>
            <a:pPr algn="ct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图</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4</a:t>
            </a:r>
            <a:r>
              <a:rPr 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sz="1600" b="1" dirty="0" err="1">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的</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sym typeface="+mn-ea"/>
              </a:rPr>
              <a:t>电学特性求解模型校准流程</a:t>
            </a:r>
          </a:p>
        </p:txBody>
      </p:sp>
      <p:grpSp>
        <p:nvGrpSpPr>
          <p:cNvPr id="66" name="组合 65">
            <a:extLst>
              <a:ext uri="{FF2B5EF4-FFF2-40B4-BE49-F238E27FC236}">
                <a16:creationId xmlns:a16="http://schemas.microsoft.com/office/drawing/2014/main" id="{6A538BD7-C35F-3D56-AAA9-6CABFCAE7CC4}"/>
              </a:ext>
            </a:extLst>
          </p:cNvPr>
          <p:cNvGrpSpPr/>
          <p:nvPr/>
        </p:nvGrpSpPr>
        <p:grpSpPr>
          <a:xfrm>
            <a:off x="7099646" y="1982131"/>
            <a:ext cx="2338707" cy="1188000"/>
            <a:chOff x="6612630" y="1395391"/>
            <a:chExt cx="2338707" cy="1188000"/>
          </a:xfrm>
        </p:grpSpPr>
        <p:cxnSp>
          <p:nvCxnSpPr>
            <p:cNvPr id="8" name="直接箭头连接符 7"/>
            <p:cNvCxnSpPr>
              <a:cxnSpLocks/>
            </p:cNvCxnSpPr>
            <p:nvPr/>
          </p:nvCxnSpPr>
          <p:spPr>
            <a:xfrm flipH="1">
              <a:off x="6612630" y="2137981"/>
              <a:ext cx="2338707" cy="0"/>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cxnSpLocks/>
            </p:cNvCxnSpPr>
            <p:nvPr/>
          </p:nvCxnSpPr>
          <p:spPr>
            <a:xfrm>
              <a:off x="6612630" y="1395391"/>
              <a:ext cx="0" cy="1188000"/>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grpSp>
      <p:sp>
        <p:nvSpPr>
          <p:cNvPr id="15" name="文本框 14"/>
          <p:cNvSpPr txBox="1"/>
          <p:nvPr/>
        </p:nvSpPr>
        <p:spPr>
          <a:xfrm>
            <a:off x="335339" y="1290006"/>
            <a:ext cx="5334000" cy="4951730"/>
          </a:xfrm>
          <a:prstGeom prst="rect">
            <a:avLst/>
          </a:prstGeom>
        </p:spPr>
        <p:txBody>
          <a:bodyPr>
            <a:noAutofit/>
          </a:bodyPr>
          <a:lstStyle/>
          <a:p>
            <a:pPr marL="285750" indent="-285750" defTabSz="266700">
              <a:lnSpc>
                <a:spcPct val="140000"/>
              </a:lnSpc>
              <a:buFont typeface="Wingdings" panose="05000000000000000000" charset="0"/>
              <a:buChar char="l"/>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为求解</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的电学特性，先利用漂移扩散方程模拟栅压对载流子密度的影响。在这一步中，通过对比是否开启密度梯度模型对仿真结果的影响，来对栅氧化层介电常数和金属功函数进行校准；</a:t>
            </a:r>
          </a:p>
          <a:p>
            <a:pPr marL="285750" indent="-285750" defTabSz="266700">
              <a:lnSpc>
                <a:spcPct val="140000"/>
              </a:lnSpc>
              <a:buFont typeface="Wingdings" panose="05000000000000000000" charset="0"/>
              <a:buChar char="l"/>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在上一节点的基础上，带入所有的校准参数，用以确认量子修正。这一节点的仿真可用于提供下次蒙特卡洛仿真的静电初始猜测；</a:t>
            </a:r>
          </a:p>
          <a:p>
            <a:pPr marL="285750" indent="-285750" defTabSz="266700">
              <a:lnSpc>
                <a:spcPct val="140000"/>
              </a:lnSpc>
              <a:buFont typeface="Wingdings" panose="05000000000000000000" charset="0"/>
              <a:buChar char="l"/>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随后进行蒙特卡洛仿真，给最终的漂移扩散仿真提供数值参考；</a:t>
            </a:r>
          </a:p>
          <a:p>
            <a:pPr marL="285750" indent="-285750" defTabSz="266700">
              <a:lnSpc>
                <a:spcPct val="140000"/>
              </a:lnSpc>
              <a:buFont typeface="Wingdings" panose="05000000000000000000" charset="0"/>
              <a:buChar char="l"/>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最后用带有密度梯度和弹道输运模型的漂移扩散模型重现蒙特卡罗仿真结果。</a:t>
            </a:r>
          </a:p>
        </p:txBody>
      </p:sp>
      <p:sp>
        <p:nvSpPr>
          <p:cNvPr id="6" name="文本框 5"/>
          <p:cNvSpPr txBox="1"/>
          <p:nvPr/>
        </p:nvSpPr>
        <p:spPr>
          <a:xfrm>
            <a:off x="113231" y="723966"/>
            <a:ext cx="3313430" cy="521970"/>
          </a:xfrm>
          <a:prstGeom prst="rect">
            <a:avLst/>
          </a:prstGeom>
          <a:noFill/>
        </p:spPr>
        <p:txBody>
          <a:bodyPr wrap="none" rtlCol="0">
            <a:spAutoFit/>
          </a:bodyPr>
          <a:lstStyle/>
          <a:p>
            <a:pPr marL="285750" indent="-285750" algn="l">
              <a:buFont typeface="Arial" panose="020B0604020202020204" pitchFamily="34" charset="0"/>
              <a:buChar char="•"/>
            </a:pPr>
            <a:r>
              <a:rPr lang="zh-CN" altLang="en-US" sz="2800" b="1" dirty="0">
                <a:latin typeface="Arial" panose="020B0604020202020204" pitchFamily="34" charset="0"/>
                <a:ea typeface="微软雅黑" panose="020B0503020204020204" pitchFamily="34" charset="-122"/>
                <a:cs typeface="Arial" panose="020B0604020202020204" pitchFamily="34" charset="0"/>
                <a:sym typeface="Adobe 黑体 Std"/>
              </a:rPr>
              <a:t>求解模型校准流程</a:t>
            </a:r>
          </a:p>
        </p:txBody>
      </p:sp>
      <p:sp>
        <p:nvSpPr>
          <p:cNvPr id="36" name="矩形: 圆角 35">
            <a:extLst>
              <a:ext uri="{FF2B5EF4-FFF2-40B4-BE49-F238E27FC236}">
                <a16:creationId xmlns:a16="http://schemas.microsoft.com/office/drawing/2014/main" id="{5A03BCB8-1340-6AF7-C009-05D46E4819F6}"/>
              </a:ext>
            </a:extLst>
          </p:cNvPr>
          <p:cNvSpPr/>
          <p:nvPr/>
        </p:nvSpPr>
        <p:spPr>
          <a:xfrm>
            <a:off x="6421467" y="1460481"/>
            <a:ext cx="2666997" cy="511810"/>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标准</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TCAD DD</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输运方程</a:t>
            </a:r>
          </a:p>
        </p:txBody>
      </p:sp>
      <p:sp>
        <p:nvSpPr>
          <p:cNvPr id="37" name="矩形: 圆角 36">
            <a:extLst>
              <a:ext uri="{FF2B5EF4-FFF2-40B4-BE49-F238E27FC236}">
                <a16:creationId xmlns:a16="http://schemas.microsoft.com/office/drawing/2014/main" id="{7CB9F16F-4F86-2AB9-4A7E-545869AB2CE8}"/>
              </a:ext>
            </a:extLst>
          </p:cNvPr>
          <p:cNvSpPr/>
          <p:nvPr/>
        </p:nvSpPr>
        <p:spPr>
          <a:xfrm>
            <a:off x="9438353" y="2430037"/>
            <a:ext cx="2434590" cy="511810"/>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DD</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输运方程</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+DG</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修正</a:t>
            </a:r>
          </a:p>
        </p:txBody>
      </p:sp>
      <p:sp>
        <p:nvSpPr>
          <p:cNvPr id="41" name="矩形: 圆角 40">
            <a:extLst>
              <a:ext uri="{FF2B5EF4-FFF2-40B4-BE49-F238E27FC236}">
                <a16:creationId xmlns:a16="http://schemas.microsoft.com/office/drawing/2014/main" id="{93FD8A06-6996-FCEE-3DF5-ECE2CD7BEEB2}"/>
              </a:ext>
            </a:extLst>
          </p:cNvPr>
          <p:cNvSpPr/>
          <p:nvPr/>
        </p:nvSpPr>
        <p:spPr>
          <a:xfrm>
            <a:off x="6413843" y="3179172"/>
            <a:ext cx="2666996" cy="59575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具有量子修正的</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DD</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输运方程</a:t>
            </a:r>
          </a:p>
        </p:txBody>
      </p:sp>
      <p:sp>
        <p:nvSpPr>
          <p:cNvPr id="45" name="矩形: 圆角 44">
            <a:extLst>
              <a:ext uri="{FF2B5EF4-FFF2-40B4-BE49-F238E27FC236}">
                <a16:creationId xmlns:a16="http://schemas.microsoft.com/office/drawing/2014/main" id="{D6A18E7E-1243-0511-DC34-7D41CF0DA37D}"/>
              </a:ext>
            </a:extLst>
          </p:cNvPr>
          <p:cNvSpPr/>
          <p:nvPr/>
        </p:nvSpPr>
        <p:spPr>
          <a:xfrm>
            <a:off x="9438353" y="4153211"/>
            <a:ext cx="2434590" cy="573040"/>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BTE</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输运方程的</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MC</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求解</a:t>
            </a:r>
          </a:p>
        </p:txBody>
      </p:sp>
      <p:sp>
        <p:nvSpPr>
          <p:cNvPr id="52" name="文本框 51">
            <a:extLst>
              <a:ext uri="{FF2B5EF4-FFF2-40B4-BE49-F238E27FC236}">
                <a16:creationId xmlns:a16="http://schemas.microsoft.com/office/drawing/2014/main" id="{56E30177-B7C4-33F6-E1F7-154EBE92D35C}"/>
              </a:ext>
            </a:extLst>
          </p:cNvPr>
          <p:cNvSpPr txBox="1"/>
          <p:nvPr/>
        </p:nvSpPr>
        <p:spPr>
          <a:xfrm>
            <a:off x="7126177" y="2052769"/>
            <a:ext cx="3407141" cy="646331"/>
          </a:xfrm>
          <a:prstGeom prst="rect">
            <a:avLst/>
          </a:prstGeom>
          <a:noFill/>
        </p:spPr>
        <p:txBody>
          <a:bodyPr wrap="square">
            <a:spAutoFit/>
          </a:bodyPr>
          <a:lstStyle/>
          <a:p>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考虑量子效应：</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校准金属功函数、介质介电常数</a:t>
            </a:r>
          </a:p>
        </p:txBody>
      </p:sp>
      <p:sp>
        <p:nvSpPr>
          <p:cNvPr id="60" name="文本框 59">
            <a:extLst>
              <a:ext uri="{FF2B5EF4-FFF2-40B4-BE49-F238E27FC236}">
                <a16:creationId xmlns:a16="http://schemas.microsoft.com/office/drawing/2014/main" id="{77DDA86B-F68A-1958-794E-930832818BF3}"/>
              </a:ext>
            </a:extLst>
          </p:cNvPr>
          <p:cNvSpPr txBox="1"/>
          <p:nvPr/>
        </p:nvSpPr>
        <p:spPr>
          <a:xfrm>
            <a:off x="7127673" y="3782493"/>
            <a:ext cx="3044139" cy="646331"/>
          </a:xfrm>
          <a:prstGeom prst="rect">
            <a:avLst/>
          </a:prstGeom>
          <a:noFill/>
        </p:spPr>
        <p:txBody>
          <a:bodyPr wrap="square">
            <a:spAutoFit/>
          </a:bodyPr>
          <a:lstStyle/>
          <a:p>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考虑弹道输运：</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校准迁移率模型</a:t>
            </a:r>
            <a:endPar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5" name="矩形: 圆角 64">
            <a:extLst>
              <a:ext uri="{FF2B5EF4-FFF2-40B4-BE49-F238E27FC236}">
                <a16:creationId xmlns:a16="http://schemas.microsoft.com/office/drawing/2014/main" id="{B7D75E9B-BF4F-0BB1-C0CE-400143F31B70}"/>
              </a:ext>
            </a:extLst>
          </p:cNvPr>
          <p:cNvSpPr/>
          <p:nvPr/>
        </p:nvSpPr>
        <p:spPr>
          <a:xfrm>
            <a:off x="6421467" y="4974680"/>
            <a:ext cx="2440593" cy="81606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具有运量子修正和弹道输的</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DD</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输运方程</a:t>
            </a:r>
          </a:p>
        </p:txBody>
      </p:sp>
      <p:grpSp>
        <p:nvGrpSpPr>
          <p:cNvPr id="67" name="组合 66">
            <a:extLst>
              <a:ext uri="{FF2B5EF4-FFF2-40B4-BE49-F238E27FC236}">
                <a16:creationId xmlns:a16="http://schemas.microsoft.com/office/drawing/2014/main" id="{80D9BFD0-1355-979B-1EA7-EAAA7DDB5E03}"/>
              </a:ext>
            </a:extLst>
          </p:cNvPr>
          <p:cNvGrpSpPr/>
          <p:nvPr/>
        </p:nvGrpSpPr>
        <p:grpSpPr>
          <a:xfrm>
            <a:off x="7099646" y="3779611"/>
            <a:ext cx="2338707" cy="1188000"/>
            <a:chOff x="6612630" y="1395391"/>
            <a:chExt cx="2338707" cy="1188000"/>
          </a:xfrm>
        </p:grpSpPr>
        <p:cxnSp>
          <p:nvCxnSpPr>
            <p:cNvPr id="68" name="直接箭头连接符 67">
              <a:extLst>
                <a:ext uri="{FF2B5EF4-FFF2-40B4-BE49-F238E27FC236}">
                  <a16:creationId xmlns:a16="http://schemas.microsoft.com/office/drawing/2014/main" id="{0B14D4FC-F660-C9DE-65EA-CFF7D12CA943}"/>
                </a:ext>
              </a:extLst>
            </p:cNvPr>
            <p:cNvCxnSpPr>
              <a:cxnSpLocks/>
            </p:cNvCxnSpPr>
            <p:nvPr/>
          </p:nvCxnSpPr>
          <p:spPr>
            <a:xfrm flipH="1">
              <a:off x="6612630" y="2137981"/>
              <a:ext cx="2338707" cy="0"/>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69" name="直接箭头连接符 68">
              <a:extLst>
                <a:ext uri="{FF2B5EF4-FFF2-40B4-BE49-F238E27FC236}">
                  <a16:creationId xmlns:a16="http://schemas.microsoft.com/office/drawing/2014/main" id="{86F5CDA1-8BE0-625A-B8B5-5DADC52E4BD5}"/>
                </a:ext>
              </a:extLst>
            </p:cNvPr>
            <p:cNvCxnSpPr>
              <a:cxnSpLocks/>
            </p:cNvCxnSpPr>
            <p:nvPr/>
          </p:nvCxnSpPr>
          <p:spPr>
            <a:xfrm>
              <a:off x="6612630" y="1395391"/>
              <a:ext cx="0" cy="1188000"/>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grpSp>
      <p:cxnSp>
        <p:nvCxnSpPr>
          <p:cNvPr id="73" name="连接符: 肘形 72">
            <a:extLst>
              <a:ext uri="{FF2B5EF4-FFF2-40B4-BE49-F238E27FC236}">
                <a16:creationId xmlns:a16="http://schemas.microsoft.com/office/drawing/2014/main" id="{38302718-F4C2-2A63-522B-2746E9737794}"/>
              </a:ext>
            </a:extLst>
          </p:cNvPr>
          <p:cNvCxnSpPr>
            <a:stCxn id="41" idx="3"/>
            <a:endCxn id="45" idx="0"/>
          </p:cNvCxnSpPr>
          <p:nvPr/>
        </p:nvCxnSpPr>
        <p:spPr>
          <a:xfrm>
            <a:off x="9080839" y="3477051"/>
            <a:ext cx="1574809" cy="676160"/>
          </a:xfrm>
          <a:prstGeom prst="bentConnector2">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9A6B3313-63E9-8EA0-3B79-866204CB70E0}"/>
              </a:ext>
            </a:extLst>
          </p:cNvPr>
          <p:cNvSpPr txBox="1"/>
          <p:nvPr/>
        </p:nvSpPr>
        <p:spPr>
          <a:xfrm>
            <a:off x="10784263" y="3597827"/>
            <a:ext cx="1407737" cy="369332"/>
          </a:xfrm>
          <a:prstGeom prst="rect">
            <a:avLst/>
          </a:prstGeom>
          <a:noFill/>
        </p:spPr>
        <p:txBody>
          <a:bodyPr wrap="square">
            <a:spAutoFit/>
          </a:bodyPr>
          <a:lstStyle/>
          <a:p>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提供初始解</a:t>
            </a:r>
          </a:p>
        </p:txBody>
      </p:sp>
      <p:sp>
        <p:nvSpPr>
          <p:cNvPr id="81" name="文本框 80">
            <a:extLst>
              <a:ext uri="{FF2B5EF4-FFF2-40B4-BE49-F238E27FC236}">
                <a16:creationId xmlns:a16="http://schemas.microsoft.com/office/drawing/2014/main" id="{574E58EB-67AB-194F-AA06-4B7536EE81DE}"/>
              </a:ext>
            </a:extLst>
          </p:cNvPr>
          <p:cNvSpPr txBox="1"/>
          <p:nvPr/>
        </p:nvSpPr>
        <p:spPr>
          <a:xfrm>
            <a:off x="9080839" y="5079245"/>
            <a:ext cx="1796156" cy="646331"/>
          </a:xfrm>
          <a:prstGeom prst="rect">
            <a:avLst/>
          </a:prstGeom>
          <a:noFill/>
        </p:spPr>
        <p:txBody>
          <a:bodyPr wrap="square">
            <a:spAutoFit/>
          </a:bodyPr>
          <a:lstStyle/>
          <a:p>
            <a:pPr algn="ct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后续</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TCAD DC</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仿真的基准模型</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9375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dobe 黑体 Std"/>
              <a:ea typeface="微软雅黑" panose="020B0503020204020204" pitchFamily="34" charset="-122"/>
              <a:sym typeface="Adobe 黑体 Std"/>
            </a:endParaRPr>
          </a:p>
        </p:txBody>
      </p:sp>
      <p:sp>
        <p:nvSpPr>
          <p:cNvPr id="5" name="文本框 4"/>
          <p:cNvSpPr txBox="1"/>
          <p:nvPr/>
        </p:nvSpPr>
        <p:spPr>
          <a:xfrm>
            <a:off x="113231" y="21699"/>
            <a:ext cx="10607391" cy="584775"/>
          </a:xfrm>
          <a:prstGeom prst="rect">
            <a:avLst/>
          </a:prstGeom>
          <a:noFill/>
        </p:spPr>
        <p:txBody>
          <a:bodyPr wrap="none" rtlCol="0">
            <a:spAutoFit/>
          </a:bodyPr>
          <a:lstStyle/>
          <a:p>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基于</a:t>
            </a:r>
            <a:r>
              <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TCAD </a:t>
            </a:r>
            <a:r>
              <a:rPr lang="en-US" altLang="zh-CN" sz="3200" b="1" dirty="0" err="1">
                <a:latin typeface="Times New Roman" panose="02020603050405020304" pitchFamily="18" charset="0"/>
                <a:ea typeface="微软雅黑" panose="020B0503020204020204" pitchFamily="34" charset="-122"/>
                <a:cs typeface="Times New Roman" panose="02020603050405020304" pitchFamily="18" charset="0"/>
                <a:sym typeface="Adobe 黑体 Std"/>
              </a:rPr>
              <a:t>SDeivce</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a:t>
            </a:r>
            <a:r>
              <a:rPr lang="en-US" altLang="zh-CN" sz="3200" b="1" dirty="0" err="1">
                <a:latin typeface="Times New Roman" panose="02020603050405020304" pitchFamily="18" charset="0"/>
                <a:ea typeface="微软雅黑" panose="020B0503020204020204" pitchFamily="34" charset="-122"/>
                <a:cs typeface="Times New Roman" panose="02020603050405020304" pitchFamily="18" charset="0"/>
                <a:sym typeface="Adobe 黑体 Std"/>
              </a:rPr>
              <a:t>FinFET</a:t>
            </a: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sym typeface="Adobe 黑体 Std"/>
              </a:rPr>
              <a:t>的物理模型与电学特性校准</a:t>
            </a:r>
          </a:p>
        </p:txBody>
      </p:sp>
      <p:sp>
        <p:nvSpPr>
          <p:cNvPr id="18" name="文本框 17"/>
          <p:cNvSpPr txBox="1"/>
          <p:nvPr/>
        </p:nvSpPr>
        <p:spPr>
          <a:xfrm>
            <a:off x="714891" y="1176636"/>
            <a:ext cx="4234285" cy="5191760"/>
          </a:xfrm>
          <a:prstGeom prst="rect">
            <a:avLst/>
          </a:prstGeom>
        </p:spPr>
        <p:txBody>
          <a:bodyPr>
            <a:noAutofit/>
          </a:bodyPr>
          <a:lstStyle/>
          <a:p>
            <a:pPr defTabSz="266700">
              <a:lnSpc>
                <a:spcPct val="170000"/>
              </a:lnSpc>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在完成</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求解模型的校准后，开始对</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的电学特性进行校准。</a:t>
            </a:r>
          </a:p>
          <a:p>
            <a:pPr defTabSz="266700">
              <a:lnSpc>
                <a:spcPct val="170000"/>
              </a:lnSpc>
            </a:pP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通过实验数据校准电学特性，为后续探究</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工艺参数对</a:t>
            </a: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mn-ea"/>
              </a:rPr>
              <a:t>高频寄生机理、电学性能的研究奠定了基础。</a:t>
            </a:r>
          </a:p>
          <a:p>
            <a:pPr defTabSz="266700">
              <a:lnSpc>
                <a:spcPct val="100000"/>
              </a:lnSpc>
            </a:pPr>
            <a:endPar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defTabSz="266700">
              <a:lnSpc>
                <a:spcPct val="170000"/>
              </a:lnSpc>
            </a:pPr>
            <a:r>
              <a:rPr lang="en-US" altLang="zh-CN" b="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FinFET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直流转移特性的校准情况如图</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6(a-b)</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所示；跨导如图</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6(c)</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所示，跨导最大值约为</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1.5 mS</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；亚阈摆幅如图</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6(d)</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所示，亚阈摆幅最小值约为</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73 mV/dec</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nvGrpSpPr>
          <p:cNvPr id="2" name="组合 1">
            <a:extLst>
              <a:ext uri="{FF2B5EF4-FFF2-40B4-BE49-F238E27FC236}">
                <a16:creationId xmlns:a16="http://schemas.microsoft.com/office/drawing/2014/main" id="{649B1AE4-3B65-FC2B-6382-E54347764640}"/>
              </a:ext>
            </a:extLst>
          </p:cNvPr>
          <p:cNvGrpSpPr/>
          <p:nvPr/>
        </p:nvGrpSpPr>
        <p:grpSpPr>
          <a:xfrm>
            <a:off x="4786127" y="669426"/>
            <a:ext cx="6999605" cy="5362780"/>
            <a:chOff x="4555490" y="588053"/>
            <a:chExt cx="7393276" cy="5795877"/>
          </a:xfrm>
        </p:grpSpPr>
        <p:pic>
          <p:nvPicPr>
            <p:cNvPr id="9" name="图片 8" descr="SS"/>
            <p:cNvPicPr>
              <a:picLocks noChangeAspect="1"/>
            </p:cNvPicPr>
            <p:nvPr/>
          </p:nvPicPr>
          <p:blipFill>
            <a:blip r:embed="rId3"/>
            <a:stretch>
              <a:fillRect/>
            </a:stretch>
          </p:blipFill>
          <p:spPr>
            <a:xfrm>
              <a:off x="8369300" y="3503930"/>
              <a:ext cx="3579466" cy="2880000"/>
            </a:xfrm>
            <a:prstGeom prst="rect">
              <a:avLst/>
            </a:prstGeom>
          </p:spPr>
        </p:pic>
        <p:pic>
          <p:nvPicPr>
            <p:cNvPr id="10" name="图片 9" descr="IVlog"/>
            <p:cNvPicPr>
              <a:picLocks noChangeAspect="1"/>
            </p:cNvPicPr>
            <p:nvPr/>
          </p:nvPicPr>
          <p:blipFill>
            <a:blip r:embed="rId4"/>
            <a:stretch>
              <a:fillRect/>
            </a:stretch>
          </p:blipFill>
          <p:spPr>
            <a:xfrm>
              <a:off x="8369300" y="588053"/>
              <a:ext cx="3579466" cy="2880000"/>
            </a:xfrm>
            <a:prstGeom prst="rect">
              <a:avLst/>
            </a:prstGeom>
          </p:spPr>
        </p:pic>
        <p:pic>
          <p:nvPicPr>
            <p:cNvPr id="11" name="图片 10" descr="gm"/>
            <p:cNvPicPr>
              <a:picLocks noChangeAspect="1"/>
            </p:cNvPicPr>
            <p:nvPr/>
          </p:nvPicPr>
          <p:blipFill>
            <a:blip r:embed="rId5"/>
            <a:stretch>
              <a:fillRect/>
            </a:stretch>
          </p:blipFill>
          <p:spPr>
            <a:xfrm>
              <a:off x="4789805" y="3503930"/>
              <a:ext cx="3579466" cy="2880000"/>
            </a:xfrm>
            <a:prstGeom prst="rect">
              <a:avLst/>
            </a:prstGeom>
          </p:spPr>
        </p:pic>
        <p:pic>
          <p:nvPicPr>
            <p:cNvPr id="13" name="图片 12" descr="IVlinear"/>
            <p:cNvPicPr>
              <a:picLocks noChangeAspect="1"/>
            </p:cNvPicPr>
            <p:nvPr/>
          </p:nvPicPr>
          <p:blipFill>
            <a:blip r:embed="rId6"/>
            <a:stretch>
              <a:fillRect/>
            </a:stretch>
          </p:blipFill>
          <p:spPr>
            <a:xfrm>
              <a:off x="4789805" y="624205"/>
              <a:ext cx="3579795" cy="2880000"/>
            </a:xfrm>
            <a:prstGeom prst="rect">
              <a:avLst/>
            </a:prstGeom>
          </p:spPr>
        </p:pic>
        <p:sp>
          <p:nvSpPr>
            <p:cNvPr id="14" name="文本框 13"/>
            <p:cNvSpPr txBox="1"/>
            <p:nvPr/>
          </p:nvSpPr>
          <p:spPr>
            <a:xfrm>
              <a:off x="4555490" y="707114"/>
              <a:ext cx="393065" cy="368300"/>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(a)</a:t>
              </a:r>
            </a:p>
          </p:txBody>
        </p:sp>
        <p:sp>
          <p:nvSpPr>
            <p:cNvPr id="15" name="文本框 14"/>
            <p:cNvSpPr txBox="1"/>
            <p:nvPr/>
          </p:nvSpPr>
          <p:spPr>
            <a:xfrm>
              <a:off x="8099174" y="707114"/>
              <a:ext cx="393065" cy="368300"/>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(b)</a:t>
              </a:r>
            </a:p>
          </p:txBody>
        </p:sp>
        <p:sp>
          <p:nvSpPr>
            <p:cNvPr id="16" name="文本框 15"/>
            <p:cNvSpPr txBox="1"/>
            <p:nvPr/>
          </p:nvSpPr>
          <p:spPr>
            <a:xfrm>
              <a:off x="4556125" y="3432175"/>
              <a:ext cx="393065" cy="368300"/>
            </a:xfrm>
            <a:prstGeom prst="rect">
              <a:avLst/>
            </a:prstGeom>
            <a:noFill/>
          </p:spPr>
          <p:txBody>
            <a:bodyPr wrap="square" rtlCol="0">
              <a:spAutoFit/>
            </a:bodyPr>
            <a:lstStyle/>
            <a:p>
              <a:pPr algn="ctr"/>
              <a:r>
                <a:rPr lang="en-US" altLang="zh-CN">
                  <a:latin typeface="Times New Roman" panose="02020603050405020304" pitchFamily="18" charset="0"/>
                  <a:cs typeface="Times New Roman" panose="02020603050405020304" pitchFamily="18" charset="0"/>
                </a:rPr>
                <a:t>(c)</a:t>
              </a:r>
            </a:p>
          </p:txBody>
        </p:sp>
        <p:sp>
          <p:nvSpPr>
            <p:cNvPr id="17" name="文本框 16"/>
            <p:cNvSpPr txBox="1"/>
            <p:nvPr/>
          </p:nvSpPr>
          <p:spPr>
            <a:xfrm>
              <a:off x="8081010" y="3432175"/>
              <a:ext cx="393065" cy="368300"/>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(d)</a:t>
              </a:r>
            </a:p>
          </p:txBody>
        </p:sp>
      </p:grpSp>
      <p:sp>
        <p:nvSpPr>
          <p:cNvPr id="3" name="文本框 2"/>
          <p:cNvSpPr txBox="1"/>
          <p:nvPr/>
        </p:nvSpPr>
        <p:spPr>
          <a:xfrm>
            <a:off x="4949190" y="5986365"/>
            <a:ext cx="6999605" cy="539115"/>
          </a:xfrm>
          <a:prstGeom prst="rect">
            <a:avLst/>
          </a:prstGeom>
          <a:noFill/>
        </p:spPr>
        <p:txBody>
          <a:bodyPr wrap="square" anchor="t">
            <a:noAutofit/>
          </a:bodyPr>
          <a:lstStyle/>
          <a:p>
            <a:pPr algn="ct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图</a:t>
            </a: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5 </a:t>
            </a:r>
            <a:r>
              <a:rPr lang="en-US" altLang="zh-CN" sz="1400"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FinFET</a:t>
            </a: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电学特性：</a:t>
            </a: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 ID-VG</a:t>
            </a: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拟合曲线（线性坐标）；</a:t>
            </a: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(b) ID-VG</a:t>
            </a: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拟合曲线（对数坐标）；</a:t>
            </a: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(c) </a:t>
            </a: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器件跨导（</a:t>
            </a: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仿真值）；</a:t>
            </a: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(d) </a:t>
            </a: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器件亚阈摆幅（</a:t>
            </a: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TCAD</a:t>
            </a:r>
            <a:r>
              <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仿真值）</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653140"/>
            <a:ext cx="1397726" cy="28738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98864" y="503198"/>
            <a:ext cx="10368945" cy="6047120"/>
          </a:xfrm>
          <a:prstGeom prst="rect">
            <a:avLst/>
          </a:prstGeom>
        </p:spPr>
      </p:pic>
      <p:sp>
        <p:nvSpPr>
          <p:cNvPr id="14" name="矩形 13"/>
          <p:cNvSpPr/>
          <p:nvPr/>
        </p:nvSpPr>
        <p:spPr>
          <a:xfrm>
            <a:off x="3334871" y="653140"/>
            <a:ext cx="8857128" cy="28738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7444" y="503198"/>
            <a:ext cx="1397727" cy="602071"/>
          </a:xfrm>
          <a:prstGeom prst="rect">
            <a:avLst/>
          </a:prstGeom>
        </p:spPr>
      </p:pic>
      <p:sp>
        <p:nvSpPr>
          <p:cNvPr id="19" name="文本框 18"/>
          <p:cNvSpPr txBox="1"/>
          <p:nvPr/>
        </p:nvSpPr>
        <p:spPr>
          <a:xfrm>
            <a:off x="4197883" y="3061315"/>
            <a:ext cx="3796232" cy="1107996"/>
          </a:xfrm>
          <a:prstGeom prst="rect">
            <a:avLst/>
          </a:prstGeom>
          <a:noFill/>
        </p:spPr>
        <p:txBody>
          <a:bodyPr wrap="none" rtlCol="0">
            <a:spAutoFit/>
          </a:bodyPr>
          <a:lstStyle/>
          <a:p>
            <a:r>
              <a:rPr lang="en-US" altLang="zh-CN" sz="6600" b="1" spc="600" dirty="0">
                <a:solidFill>
                  <a:schemeClr val="tx1">
                    <a:lumMod val="65000"/>
                    <a:lumOff val="35000"/>
                  </a:schemeClr>
                </a:solidFill>
                <a:latin typeface="Century Gothic" panose="020B0502020202020204" pitchFamily="34" charset="0"/>
              </a:rPr>
              <a:t>THANKS</a:t>
            </a:r>
            <a:endParaRPr lang="zh-CN" altLang="en-US" sz="6600" b="1" spc="600" dirty="0">
              <a:solidFill>
                <a:schemeClr val="tx1">
                  <a:lumMod val="65000"/>
                  <a:lumOff val="35000"/>
                </a:schemeClr>
              </a:solidFill>
              <a:latin typeface="Century Gothic" panose="020B0502020202020204" pitchFamily="34" charset="0"/>
            </a:endParaRPr>
          </a:p>
        </p:txBody>
      </p:sp>
      <p:cxnSp>
        <p:nvCxnSpPr>
          <p:cNvPr id="3" name="直接连接符 2"/>
          <p:cNvCxnSpPr/>
          <p:nvPr/>
        </p:nvCxnSpPr>
        <p:spPr>
          <a:xfrm>
            <a:off x="3931956" y="4265269"/>
            <a:ext cx="4328086"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30*362"/>
  <p:tag name="TABLE_ENDDRAG_RECT" val="144*149*330*36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latin typeface="Adobe 黑体 Std"/>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1042</TotalTime>
  <Words>1100</Words>
  <Application>Microsoft Office PowerPoint</Application>
  <PresentationFormat>宽屏</PresentationFormat>
  <Paragraphs>131</Paragraphs>
  <Slides>9</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Adobe 黑体 Std</vt:lpstr>
      <vt:lpstr>黑体</vt:lpstr>
      <vt:lpstr>微软雅黑</vt:lpstr>
      <vt:lpstr>Arial</vt:lpstr>
      <vt:lpstr>Calibri</vt:lpstr>
      <vt:lpstr>Calibri Light</vt:lpstr>
      <vt:lpstr>Cambria Math</vt:lpstr>
      <vt:lpstr>Century Gothic</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haobo Huang</cp:lastModifiedBy>
  <cp:revision>2162</cp:revision>
  <dcterms:created xsi:type="dcterms:W3CDTF">2020-01-30T13:17:00Z</dcterms:created>
  <dcterms:modified xsi:type="dcterms:W3CDTF">2026-03-22T08:46:37Z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3A2F4A378C6F457F910C7CF1499439B0_13</vt:lpwstr>
  </property>
</Properties>
</file>