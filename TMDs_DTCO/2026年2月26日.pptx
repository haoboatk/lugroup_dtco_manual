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206" r:id="rId3"/>
    <p:sldId id="2207" r:id="rId4"/>
    <p:sldId id="2208" r:id="rId5"/>
    <p:sldId id="2209" r:id="rId6"/>
    <p:sldId id="2210" r:id="rId7"/>
    <p:sldId id="221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60F9E0A-70E3-4BA4-8F57-048B9ABE6B06}">
          <p14:sldIdLst>
            <p14:sldId id="2206"/>
            <p14:sldId id="2207"/>
            <p14:sldId id="2208"/>
            <p14:sldId id="2209"/>
            <p14:sldId id="2210"/>
            <p14:sldId id="22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A8C6D0"/>
    <a:srgbClr val="6C9EB0"/>
    <a:srgbClr val="88B0BE"/>
    <a:srgbClr val="D4E3E8"/>
    <a:srgbClr val="E5E5E5"/>
    <a:srgbClr val="FFFFCC"/>
    <a:srgbClr val="FFFF66"/>
    <a:srgbClr val="FDFFE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1" autoAdjust="0"/>
    <p:restoredTop sz="91597" autoAdjust="0"/>
  </p:normalViewPr>
  <p:slideViewPr>
    <p:cSldViewPr snapToGrid="0">
      <p:cViewPr varScale="1">
        <p:scale>
          <a:sx n="111" d="100"/>
          <a:sy n="111" d="100"/>
        </p:scale>
        <p:origin x="77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97DB0-74A2-49B4-B856-4635F854C74C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E60C0-316D-43A1-BBEF-B7984430A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0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92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5C08-EB8E-136D-AA91-A7075F08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E14D4F-DB46-712B-B0A4-D35AA97A1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D27C8B-8A75-9C40-3A41-36E0585D4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247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23DE-B73B-A8DB-3C82-86D99185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B4C04B-032A-A24C-88A6-73E878087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DB940-2720-A8DF-29F6-E5B5B9BEF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548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C2BC-4F30-FCB2-7DB7-5393EBC2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B6C331-0013-7C8D-53B5-695CB94C8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8F08EB-E34C-63D4-2692-7EC2B40D0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81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A7B9-6563-71F3-E0EF-152ABA39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2656D4-E49C-86B4-F160-79982A794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027FB0-8023-4FD8-C58A-5BA79F0B0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56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1609-898F-ED5E-7E4B-222DEE19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015D26-7F2E-7AFA-FB4B-EF99090BF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0472D5-87B2-AAF2-6054-B113F68FC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886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E8690-CEFC-41DA-B256-3C19A5574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80C911-14A0-4D02-97F4-82C88F44A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E508-06F3-4EA8-9BC2-FB28F6BB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A136D-B9E7-4588-B846-F7E3E490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615B4-ADE0-4E4B-A8FE-1A7DD3D9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1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0576F-806D-4806-87A9-E767E8C4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A73B6E-8F84-4AF8-97C4-D908D943B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B59256-8BCD-4550-9B97-B2A3FFC9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C0BAC-2C82-404D-A91E-B9495908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12C7F-4613-40FE-AA54-EC34B04E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08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8D078-20FA-4DB9-AC80-F370ADDC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EB77C9-4523-46A5-AF3D-F96DC4DF8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CC4E7-72AF-4157-95D8-37AFF92E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714C3-699F-4136-BF6D-D107721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500D12-C2DE-4027-8AA7-ACCDCB5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74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7D02E-25A3-4426-88DA-253297ED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7F23A0-FC67-4498-8252-DA74A632F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94FB8E-BA40-4A60-A254-B91C5553D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00FDBE-0ADE-4934-87FB-45AB463E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ED1924-84DC-4EBB-83D4-77F4F2DD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D5B100-83FE-4C14-A4AE-5BD33855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49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38AA0-B7A9-4F49-85D2-63A094A4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373403-B8FC-46D1-B5A7-E6A96147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A1AE4B-682A-4F8F-81F9-4DC3BA4DB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CD1C81-CC2B-47BE-A74F-7BC3B17FB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FA9473-740F-44CF-AF91-80F60BAC3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1F64A0-6B6D-4473-8872-D0AA8D17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2D2FE6-AAAA-4F8D-A904-FB842275B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1B9914-82B6-4196-BD1B-0B5D4ACF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17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CE10A-A798-4188-B3BD-0D298A0E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C81E45-E896-4A6A-88B7-C9912C18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E117A5-0A40-4550-934F-AD1B3755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C7125F-03B6-4AA5-AED1-9F7C3A05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9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CFD776-466F-40E6-9314-7C35909D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A1E741-F550-4EE0-8B8E-4328127F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3D9BEA-98F7-4420-A85C-E9CA63BB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79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69E3C-36FA-48C1-90A8-0A14E1DE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7FE6E-8CA3-414F-975F-07D6598A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59449C-79B5-4988-ACE2-58C5CE347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E54F6-57DD-4084-A737-6E9055EF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1E3EDB-9AED-41F9-828A-C8807D15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249AC-06F6-43AD-81DF-935F9FF6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42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F23C6-B504-4D28-9404-95AE58BF0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2C7F15-936C-49BD-8FB7-27FDE9B9C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FD82D1-2712-493C-9B86-9B5015A87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C8D12-6F4B-4160-BCF3-44A75012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24512C-A91F-4319-9454-F59B2806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89115-D60B-4612-8A00-B2A3B97F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695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E7D83-2111-431B-86E2-026021D9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7D4A72-7189-4C8B-8020-0B11A8FC9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BEFF4-A633-4A99-9556-B80AF877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E9FCFE-839E-49AE-8BFC-D00BB69D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46628-F489-4DD5-BC16-823A5DC8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24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CAEB17-A686-44B3-82B3-5C2127E88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BBEDB6-532E-4C77-8FFE-F01668BA8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2E5BC-57A4-4D87-985F-50CCEF09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4C044-9A18-40EF-B963-98DDEDBD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FA060-2685-4BAD-8277-69C7DBBC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9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78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pPr algn="ctr">
                <a:defRPr/>
              </a:p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AB5BAE-D9D1-428F-B9BE-FFFA3C8E9E4D}"/>
              </a:ext>
            </a:extLst>
          </p:cNvPr>
          <p:cNvSpPr/>
          <p:nvPr userDrawn="1"/>
        </p:nvSpPr>
        <p:spPr>
          <a:xfrm>
            <a:off x="-1" y="0"/>
            <a:ext cx="12192001" cy="102873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46000">
                <a:srgbClr val="071F65"/>
              </a:gs>
              <a:gs pos="83000">
                <a:srgbClr val="071F65"/>
              </a:gs>
              <a:gs pos="100000">
                <a:srgbClr val="071F6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KSO_Shape">
            <a:extLst>
              <a:ext uri="{FF2B5EF4-FFF2-40B4-BE49-F238E27FC236}">
                <a16:creationId xmlns:a16="http://schemas.microsoft.com/office/drawing/2014/main" id="{E7A3602C-31EE-4C9C-B343-BB1FA1FF9C53}"/>
              </a:ext>
            </a:extLst>
          </p:cNvPr>
          <p:cNvSpPr>
            <a:spLocks/>
          </p:cNvSpPr>
          <p:nvPr userDrawn="1"/>
        </p:nvSpPr>
        <p:spPr bwMode="auto">
          <a:xfrm>
            <a:off x="335360" y="244128"/>
            <a:ext cx="816107" cy="4965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8773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3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8" decel="5333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401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13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39BEAC-4096-45AB-A12F-C5EDB115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8B8D2B-3696-45CA-AD93-A493DE16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F992B-DA50-4D17-99AB-F868F24CB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E1A94-0F4E-48C3-AA1A-82CF9F13456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C0B14-5ECF-4349-8819-8FE54FE1B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543CB-8E69-4757-9911-070F45779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6646-DAAC-4248-B44C-F6F1D9557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06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1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79" indent="-357179" algn="just" defTabSz="914377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79" indent="-357179" algn="just" defTabSz="914377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91A190-1183-7A21-6AF3-62E165432551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TMDs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标准逻辑器件的性能评估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: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项目要求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E50490-0870-6826-0512-47A0007B411B}"/>
              </a:ext>
            </a:extLst>
          </p:cNvPr>
          <p:cNvSpPr txBox="1"/>
          <p:nvPr/>
        </p:nvSpPr>
        <p:spPr>
          <a:xfrm>
            <a:off x="120350" y="1080894"/>
            <a:ext cx="11526218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以二维材料（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MoS2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、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WSe2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）分别作为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N/P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型晶体管，仿真完整可行的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CMOS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逻辑电路及工艺流程，并进行性能比较、优化。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Dubai Medium" panose="020B0603030403030204" pitchFamily="34" charset="-7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41694D-6AAF-E981-67D7-A70B14B5D471}"/>
              </a:ext>
            </a:extLst>
          </p:cNvPr>
          <p:cNvSpPr txBox="1"/>
          <p:nvPr/>
        </p:nvSpPr>
        <p:spPr>
          <a:xfrm>
            <a:off x="5546576" y="2092590"/>
            <a:ext cx="6645424" cy="245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1.TCAD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仿真：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Dubai Medium" panose="020B0603030403030204" pitchFamily="34" charset="-78"/>
            </a:endParaRPr>
          </a:p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	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能带、迁移率、接触、缺陷、工艺流程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(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隔离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/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互联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)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Dubai Medium" panose="020B0603030403030204" pitchFamily="34" charset="-78"/>
            </a:endParaRPr>
          </a:p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2.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紧凑模型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:</a:t>
            </a:r>
          </a:p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	IV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模型、</a:t>
            </a:r>
            <a:r>
              <a:rPr lang="en-US" altLang="zh-CN" sz="2000" dirty="0">
                <a:latin typeface="+mj-ea"/>
                <a:ea typeface="+mj-ea"/>
                <a:cs typeface="Dubai Medium" panose="020B0603030403030204" pitchFamily="34" charset="-78"/>
              </a:rPr>
              <a:t>CV</a:t>
            </a:r>
            <a:r>
              <a:rPr lang="zh-CN" altLang="en-US" sz="2000" dirty="0">
                <a:latin typeface="+mj-ea"/>
                <a:ea typeface="+mj-ea"/>
                <a:cs typeface="Dubai Medium" panose="020B0603030403030204" pitchFamily="34" charset="-78"/>
              </a:rPr>
              <a:t>模型、寄生效应</a:t>
            </a:r>
            <a:endParaRPr lang="en-US" altLang="zh-CN" sz="2000" dirty="0">
              <a:latin typeface="+mj-ea"/>
              <a:ea typeface="+mj-ea"/>
              <a:cs typeface="Dubai Medium" panose="020B0603030403030204" pitchFamily="34" charset="-78"/>
            </a:endParaRPr>
          </a:p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3.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协同优化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:</a:t>
            </a:r>
          </a:p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	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标准单元库、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Dubai Medium" panose="020B0603030403030204" pitchFamily="34" charset="-78"/>
              </a:rPr>
              <a:t>PRA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Dubai Medium" panose="020B0603030403030204" pitchFamily="34" charset="-78"/>
            </a:endParaRP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DE075572-87D6-E48D-47EF-7C44D5A9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4" y="1934462"/>
            <a:ext cx="4848304" cy="2816294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E8206AEB-7F40-3AA0-337A-A15BDA39A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42" y="4832710"/>
            <a:ext cx="4806804" cy="18887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6A2C2C4-FAD9-2CFD-96E9-81ABDBAF5D49}"/>
              </a:ext>
            </a:extLst>
          </p:cNvPr>
          <p:cNvSpPr txBox="1"/>
          <p:nvPr/>
        </p:nvSpPr>
        <p:spPr>
          <a:xfrm>
            <a:off x="5673632" y="6039853"/>
            <a:ext cx="6391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Ref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A complementary two-dimensional material-based one instruction set computer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149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9EE0-BDBD-31F2-FBA2-30D4C5EC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E45D0EA-2FD5-81CC-0C96-D47074F89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469" y="1960765"/>
            <a:ext cx="4053840" cy="454152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DC74D2A-856C-9774-16DC-127E5B71B793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二维材料</a:t>
            </a:r>
            <a:r>
              <a:rPr lang="en-US" altLang="zh-CN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TCAD</a:t>
            </a: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校准：能带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Dubai Medium" panose="020B0603030403030204" pitchFamily="34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8114C0-8980-958A-B187-B477AD0E29A5}"/>
                  </a:ext>
                </a:extLst>
              </p:cNvPr>
              <p:cNvSpPr txBox="1"/>
              <p:nvPr/>
            </p:nvSpPr>
            <p:spPr>
              <a:xfrm>
                <a:off x="41189" y="1012762"/>
                <a:ext cx="7504979" cy="1453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178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ea"/>
                    <a:ea typeface="+mj-ea"/>
                    <a:cs typeface="Dubai Medium" panose="020B0603030403030204" pitchFamily="34" charset="-78"/>
                  </a:rPr>
                  <a:t>在</a:t>
                </a:r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有效质量近似</a:t>
                </a:r>
                <a:r>
                  <a:rPr lang="en-US" altLang="zh-CN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(EMA)</a:t>
                </a:r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下，晶体材料中的</a:t>
                </a:r>
                <a:r>
                  <a:rPr lang="en-US" altLang="zh-CN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E-k</a:t>
                </a:r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关系可以表示为</a:t>
                </a:r>
                <a:r>
                  <a:rPr lang="en-US" altLang="zh-CN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:</a:t>
                </a:r>
              </a:p>
              <a:p>
                <a:pPr defTabSz="457178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  <a:ea typeface="+mj-ea"/>
                        </a:rPr>
                        <m:t>𝐸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𝑘</m:t>
                          </m:r>
                        </m:e>
                      </m:d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𝑐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+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  <a:p>
                <a:pPr marL="0" marR="0" lvl="0" indent="0" algn="l" defTabSz="457178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ea"/>
                  <a:ea typeface="+mj-ea"/>
                  <a:cs typeface="Dubai Medium" panose="020B0603030403030204" pitchFamily="34" charset="-78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8114C0-8980-958A-B187-B477AD0E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9" y="1012762"/>
                <a:ext cx="7504979" cy="1453668"/>
              </a:xfrm>
              <a:prstGeom prst="rect">
                <a:avLst/>
              </a:prstGeom>
              <a:blipFill>
                <a:blip r:embed="rId4"/>
                <a:stretch>
                  <a:fillRect l="-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48E1F-A087-6A9C-567A-3155686796FB}"/>
                  </a:ext>
                </a:extLst>
              </p:cNvPr>
              <p:cNvSpPr txBox="1"/>
              <p:nvPr/>
            </p:nvSpPr>
            <p:spPr>
              <a:xfrm>
                <a:off x="41189" y="1803507"/>
                <a:ext cx="7574280" cy="18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电子浓度的一般表达式为：</a:t>
                </a:r>
                <a:endParaRPr lang="en-US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  <a:ea typeface="+mj-ea"/>
                        </a:rPr>
                        <m:t>𝑛</m:t>
                      </m:r>
                      <m:r>
                        <a:rPr lang="en-US" altLang="zh-CN" sz="1600" i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𝑐</m:t>
                              </m:r>
                            </m:sub>
                          </m:sSub>
                        </m:sub>
                        <m:sup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∞</m:t>
                          </m:r>
                        </m:sup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e>
                      </m:nary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</m:d>
                      <m:r>
                        <a:rPr lang="zh-CN" altLang="ar-AE" sz="1600" i="1">
                          <a:latin typeface="Cambria Math" panose="02040503050406030204" pitchFamily="18" charset="0"/>
                          <a:ea typeface="+mj-ea"/>
                        </a:rPr>
                        <m:t>𝑓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CN" sz="1600" b="0" i="1">
                          <a:latin typeface="+mj-ea"/>
                          <a:ea typeface="+mj-ea"/>
                        </a:rPr>
                        <m:t> </m:t>
                      </m:r>
                      <m:r>
                        <a:rPr lang="zh-CN" altLang="ar-AE" sz="1600" b="0" i="1">
                          <a:latin typeface="Cambria Math" panose="02040503050406030204" pitchFamily="18" charset="0"/>
                          <a:ea typeface="+mj-ea"/>
                        </a:rPr>
                        <m:t>𝑑𝐸</m:t>
                      </m:r>
                    </m:oMath>
                  </m:oMathPara>
                </a14:m>
                <a:endParaRPr lang="ar-AE" altLang="zh-CN" sz="1600" b="0" dirty="0"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其中：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  <a:ea typeface="+mj-ea"/>
                        </a:rPr>
                        <m:t>𝑓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</m:d>
                      <m:r>
                        <a:rPr lang="ar-AE" altLang="zh-CN" sz="1600" i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+</m:t>
                          </m:r>
                          <m:func>
                            <m:func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600" i="0">
                                  <a:latin typeface="Cambria Math" panose="02040503050406030204" pitchFamily="18" charset="0"/>
                                  <a:ea typeface="+mj-ea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altLang="zh-CN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ar-AE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𝐸</m:t>
                                      </m:r>
                                      <m:r>
                                        <a:rPr lang="ar-AE" altLang="zh-CN" sz="1600" i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altLang="zh-CN" sz="1600" i="1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600" i="1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600" i="1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𝐹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ar-AE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𝑘𝑇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48E1F-A087-6A9C-567A-315568679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9" y="1803507"/>
                <a:ext cx="7574280" cy="1883529"/>
              </a:xfrm>
              <a:prstGeom prst="rect">
                <a:avLst/>
              </a:prstGeom>
              <a:blipFill>
                <a:blip r:embed="rId5"/>
                <a:stretch>
                  <a:fillRect l="-483" t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E8FCD9C-B5E7-B78D-A999-ABBC45ABC62D}"/>
                  </a:ext>
                </a:extLst>
              </p:cNvPr>
              <p:cNvSpPr txBox="1"/>
              <p:nvPr/>
            </p:nvSpPr>
            <p:spPr>
              <a:xfrm>
                <a:off x="227957" y="3882313"/>
                <a:ext cx="3475363" cy="2073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在三维材料中需要考虑球内态数</a:t>
                </a:r>
                <a:r>
                  <a:rPr lang="en-US" altLang="zh-CN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:</a:t>
                </a:r>
                <a:endParaRPr lang="en-US" altLang="zh-CN" sz="1600" i="1" dirty="0">
                  <a:latin typeface="+mj-ea"/>
                  <a:ea typeface="+mj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3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</m:d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zh-CN" sz="160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altLang="zh-CN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ar-AE" altLang="zh-CN" sz="160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ar-AE" altLang="zh-CN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altLang="zh-CN" sz="160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ar-AE" altLang="zh-CN" sz="160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3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/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p>
                      </m:sSup>
                      <m:rad>
                        <m:radPr>
                          <m:degHide m:val="on"/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radPr>
                        <m:deg/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得到：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𝑛</m:t>
                          </m:r>
                        </m:e>
                        <m:sub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3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r>
                        <a:rPr lang="ar-AE" altLang="zh-CN" sz="1600" i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𝑁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𝐹</m:t>
                          </m:r>
                        </m:e>
                        <m:sub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/</m:t>
                          </m:r>
                          <m:r>
                            <a:rPr lang="ar-AE" altLang="zh-CN" sz="1600" i="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其中：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ar-AE" sz="1600" i="1">
                          <a:latin typeface="Cambria Math" panose="02040503050406030204" pitchFamily="18" charset="0"/>
                        </a:rPr>
                        <m:t>𝑘𝑇</m:t>
                      </m:r>
                      <m:sSup>
                        <m:sSup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E8FCD9C-B5E7-B78D-A999-ABBC45ABC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" y="3882313"/>
                <a:ext cx="3475363" cy="2073260"/>
              </a:xfrm>
              <a:prstGeom prst="rect">
                <a:avLst/>
              </a:prstGeom>
              <a:blipFill>
                <a:blip r:embed="rId6"/>
                <a:stretch>
                  <a:fillRect l="-876" t="-882"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5214176-7BC0-A7C3-11F0-A3A903EDF0B5}"/>
                  </a:ext>
                </a:extLst>
              </p:cNvPr>
              <p:cNvSpPr txBox="1"/>
              <p:nvPr/>
            </p:nvSpPr>
            <p:spPr>
              <a:xfrm>
                <a:off x="4030979" y="3882313"/>
                <a:ext cx="3474000" cy="2483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在</a:t>
                </a: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ea"/>
                    <a:ea typeface="+mj-ea"/>
                    <a:cs typeface="Dubai Medium" panose="020B0603030403030204" pitchFamily="34" charset="-78"/>
                  </a:rPr>
                  <a:t>二维材料中考虑圆内态数：</a:t>
                </a:r>
                <a:endPara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ea"/>
                  <a:ea typeface="+mj-ea"/>
                  <a:cs typeface="Dubai Medium" panose="020B0603030403030204" pitchFamily="34" charset="-78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𝐸</m:t>
                          </m:r>
                        </m:e>
                      </m:d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𝑣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𝜋</m:t>
                          </m:r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得到：</a:t>
                </a:r>
                <a:endParaRPr lang="en-US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𝑛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𝑁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  <a:ea typeface="+mj-ea"/>
                        </a:rPr>
                        <m:t>ln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+mj-ea"/>
                        </a:rPr>
                        <m:t>⁡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𝜂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+mj-ea"/>
                    <a:ea typeface="+mj-ea"/>
                  </a:rPr>
                  <a:t>其中：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𝑁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  <a:ea typeface="+mj-ea"/>
                            </a:rPr>
                            <m:t>0</m:t>
                          </m:r>
                        </m:sub>
                      </m:sSub>
                      <m:r>
                        <a:rPr lang="zh-CN" altLang="ar-AE" sz="1600" i="1">
                          <a:latin typeface="Cambria Math" panose="02040503050406030204" pitchFamily="18" charset="0"/>
                          <a:ea typeface="+mj-ea"/>
                        </a:rPr>
                        <m:t>𝑘𝑇</m:t>
                      </m:r>
                    </m:oMath>
                  </m:oMathPara>
                </a14:m>
                <a:endParaRPr lang="ar-AE" altLang="zh-CN" sz="1600" dirty="0">
                  <a:latin typeface="+mj-ea"/>
                  <a:ea typeface="+mj-ea"/>
                </a:endParaRPr>
              </a:p>
              <a:p>
                <a:endParaRPr lang="ar-AE" altLang="zh-CN" sz="1600" dirty="0">
                  <a:latin typeface="+mj-ea"/>
                  <a:ea typeface="+mj-ea"/>
                </a:endParaRPr>
              </a:p>
              <a:p>
                <a:endParaRPr lang="zh-CN" altLang="en-US" sz="1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5214176-7BC0-A7C3-11F0-A3A903ED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979" y="3882313"/>
                <a:ext cx="3474000" cy="2483565"/>
              </a:xfrm>
              <a:prstGeom prst="rect">
                <a:avLst/>
              </a:prstGeom>
              <a:blipFill>
                <a:blip r:embed="rId7"/>
                <a:stretch>
                  <a:fillRect l="-877" t="-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6ECB507-7D1A-AF78-0404-6B5DC4A7A150}"/>
              </a:ext>
            </a:extLst>
          </p:cNvPr>
          <p:cNvSpPr/>
          <p:nvPr/>
        </p:nvSpPr>
        <p:spPr>
          <a:xfrm>
            <a:off x="227955" y="3671228"/>
            <a:ext cx="3475363" cy="276606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B8553CA-1BD9-BBB8-5EAB-B937B130805C}"/>
              </a:ext>
            </a:extLst>
          </p:cNvPr>
          <p:cNvSpPr/>
          <p:nvPr/>
        </p:nvSpPr>
        <p:spPr>
          <a:xfrm>
            <a:off x="4030979" y="3671228"/>
            <a:ext cx="3474000" cy="2766060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4FB87E2C-1D15-6462-C318-216DA6208FBA}"/>
              </a:ext>
            </a:extLst>
          </p:cNvPr>
          <p:cNvSpPr/>
          <p:nvPr/>
        </p:nvSpPr>
        <p:spPr>
          <a:xfrm rot="19172524">
            <a:off x="9936481" y="2655834"/>
            <a:ext cx="464820" cy="449580"/>
          </a:xfrm>
          <a:prstGeom prst="arc">
            <a:avLst>
              <a:gd name="adj1" fmla="val 14317006"/>
              <a:gd name="adj2" fmla="val 6037179"/>
            </a:avLst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77200712-E883-40C1-AFE6-8BDA310117F9}"/>
              </a:ext>
            </a:extLst>
          </p:cNvPr>
          <p:cNvSpPr/>
          <p:nvPr/>
        </p:nvSpPr>
        <p:spPr>
          <a:xfrm rot="19172524">
            <a:off x="10096502" y="4964820"/>
            <a:ext cx="464820" cy="449580"/>
          </a:xfrm>
          <a:prstGeom prst="arc">
            <a:avLst>
              <a:gd name="adj1" fmla="val 14317006"/>
              <a:gd name="adj2" fmla="val 6037179"/>
            </a:avLst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98C255AF-E6BF-E684-2C00-E380E0D0F16A}"/>
              </a:ext>
            </a:extLst>
          </p:cNvPr>
          <p:cNvSpPr/>
          <p:nvPr/>
        </p:nvSpPr>
        <p:spPr>
          <a:xfrm rot="5400000">
            <a:off x="9083040" y="2573110"/>
            <a:ext cx="335280" cy="624840"/>
          </a:xfrm>
          <a:prstGeom prst="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ACE19D75-4C0E-B5AF-A236-2ECCBBBD9CEA}"/>
              </a:ext>
            </a:extLst>
          </p:cNvPr>
          <p:cNvSpPr/>
          <p:nvPr/>
        </p:nvSpPr>
        <p:spPr>
          <a:xfrm rot="16200000">
            <a:off x="10594463" y="5199038"/>
            <a:ext cx="335280" cy="624840"/>
          </a:xfrm>
          <a:prstGeom prst="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23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74D4-5D77-0F55-EC0E-42B28B4B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039180-3690-8ED4-EC09-B2E34B60A3F1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178">
              <a:lnSpc>
                <a:spcPct val="130000"/>
              </a:lnSpc>
              <a:defRPr/>
            </a:pP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二维材料</a:t>
            </a:r>
            <a:r>
              <a:rPr lang="en-US" altLang="zh-CN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TCAD</a:t>
            </a: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校准：</a:t>
            </a:r>
            <a:r>
              <a:rPr lang="zh-CN" altLang="en-US" sz="3200" dirty="0">
                <a:solidFill>
                  <a:prstClr val="white"/>
                </a:solidFill>
                <a:ea typeface="微软雅黑" panose="020B0503020204020204" pitchFamily="34" charset="-122"/>
                <a:cs typeface="Dubai Medium" panose="020B0603030403030204" pitchFamily="34" charset="-78"/>
              </a:rPr>
              <a:t>能带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Dubai Medium" panose="020B0603030403030204" pitchFamily="34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0E5AC9C-82E2-D8DB-6CF4-464128D66039}"/>
                  </a:ext>
                </a:extLst>
              </p:cNvPr>
              <p:cNvSpPr txBox="1"/>
              <p:nvPr/>
            </p:nvSpPr>
            <p:spPr>
              <a:xfrm>
                <a:off x="0" y="980088"/>
                <a:ext cx="11841480" cy="2225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ea"/>
                    <a:ea typeface="+mj-ea"/>
                    <a:cs typeface="Dubai Medium" panose="020B0603030403030204" pitchFamily="34" charset="-78"/>
                  </a:rPr>
                  <a:t>问题：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ea"/>
                  <a:ea typeface="+mj-ea"/>
                  <a:cs typeface="Dubai Medium" panose="020B0603030403030204" pitchFamily="34" charset="-78"/>
                </a:endParaRPr>
              </a:p>
              <a:p>
                <a:pPr>
                  <a:buNone/>
                </a:pP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ea"/>
                  <a:ea typeface="+mj-ea"/>
                  <a:cs typeface="Dubai Medium" panose="020B0603030403030204" pitchFamily="34" charset="-78"/>
                </a:endParaRPr>
              </a:p>
              <a:p>
                <a:pPr>
                  <a:buNone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ea"/>
                    <a:ea typeface="+mj-ea"/>
                    <a:cs typeface="Dubai Medium" panose="020B0603030403030204" pitchFamily="34" charset="-78"/>
                  </a:rPr>
                  <a:t>TCAD</a:t>
                </a: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j-ea"/>
                    <a:ea typeface="+mj-ea"/>
                    <a:cs typeface="Dubai Medium" panose="020B0603030403030204" pitchFamily="34" charset="-78"/>
                  </a:rPr>
                  <a:t>求解器中只包含</a:t>
                </a:r>
                <a:r>
                  <a:rPr lang="zh-CN" altLang="en-US" sz="16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ar-AE" altLang="zh-CN" sz="16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ar-AE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ar-AE" sz="16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rad>
                          </m:num>
                          <m:den>
                            <m:r>
                              <a:rPr lang="ar-AE" altLang="zh-CN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altLang="zh-CN" sz="1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sz="1600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ar-AE" sz="16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  <m:r>
                                  <a:rPr lang="ar-AE" altLang="zh-CN" sz="1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ar-AE" sz="16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zh-CN" altLang="ar-AE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ar-AE" sz="1600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en-US" sz="1600" dirty="0"/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ar-AE" altLang="zh-CN" sz="16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而对于二次材料：</a:t>
                </a:r>
                <a:r>
                  <a:rPr lang="en-US" altLang="zh-CN" sz="1600" dirty="0"/>
                  <a:t>1.</a:t>
                </a:r>
                <a:r>
                  <a:rPr lang="zh-CN" altLang="en-US" sz="1600" dirty="0"/>
                  <a:t>等效的体电子密度高，很容易进入兼并状态需要进行工程近似；</a:t>
                </a:r>
                <a:r>
                  <a:rPr lang="en-US" altLang="zh-CN" sz="1600" dirty="0"/>
                  <a:t>2.</a:t>
                </a:r>
                <a:r>
                  <a:rPr lang="zh-CN" altLang="en-US" sz="1600" dirty="0"/>
                  <a:t>温度相关性是线性，需要修改</a:t>
                </a:r>
                <a:endParaRPr lang="en-US" altLang="zh-CN" sz="1600" dirty="0"/>
              </a:p>
              <a:p>
                <a:pPr>
                  <a:buNone/>
                </a:pPr>
                <a:endParaRPr lang="en-US" altLang="zh-CN" sz="1600" dirty="0"/>
              </a:p>
              <a:p>
                <a:pPr>
                  <a:buNone/>
                </a:pPr>
                <a:r>
                  <a:rPr lang="zh-CN" altLang="en-US" sz="2000" b="1" dirty="0"/>
                  <a:t>解决方案：</a:t>
                </a:r>
                <a:endParaRPr lang="en-US" altLang="zh-CN" sz="2000" b="1" dirty="0"/>
              </a:p>
              <a:p>
                <a:pPr>
                  <a:buNone/>
                </a:pPr>
                <a:endParaRPr lang="en-US" altLang="zh-CN" sz="16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0E5AC9C-82E2-D8DB-6CF4-464128D66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0088"/>
                <a:ext cx="11841480" cy="2225546"/>
              </a:xfrm>
              <a:prstGeom prst="rect">
                <a:avLst/>
              </a:prstGeom>
              <a:blipFill>
                <a:blip r:embed="rId3"/>
                <a:stretch>
                  <a:fillRect l="-515" t="-1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C026D9-D6E5-3CAD-0381-CC2A6CF33D87}"/>
                  </a:ext>
                </a:extLst>
              </p:cNvPr>
              <p:cNvSpPr txBox="1"/>
              <p:nvPr/>
            </p:nvSpPr>
            <p:spPr>
              <a:xfrm>
                <a:off x="0" y="3028789"/>
                <a:ext cx="6126480" cy="127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  <a:cs typeface="Dubai Medium" panose="020B0603030403030204" pitchFamily="34" charset="-78"/>
                  </a:rPr>
                  <a:t>利用多能谷物理模型接口：</a:t>
                </a:r>
                <a:endParaRPr lang="en-US" altLang="zh-CN" sz="1600" dirty="0">
                  <a:latin typeface="+mj-ea"/>
                  <a:ea typeface="+mj-ea"/>
                  <a:cs typeface="Dubai Medium" panose="020B0603030403030204" pitchFamily="34" charset="-78"/>
                </a:endParaRPr>
              </a:p>
              <a:p>
                <a:endParaRPr lang="en-US" altLang="zh-CN" sz="1600" dirty="0">
                  <a:latin typeface="+mj-ea"/>
                  <a:ea typeface="+mj-ea"/>
                  <a:cs typeface="Dubai Medium" panose="020B0603030403030204" pitchFamily="34" charset="-78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+mj-ea"/>
                          <a:cs typeface="Dubai Medium" panose="020B0603030403030204" pitchFamily="34" charset="-78"/>
                        </a:rPr>
                        <m:t>𝑛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+mj-ea"/>
                          <a:cs typeface="Dubai Medium" panose="020B0603030403030204" pitchFamily="34" charset="-78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  <m:t>c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+mj-ea"/>
                              <a:cs typeface="Dubai Medium" panose="020B0603030403030204" pitchFamily="34" charset="-78"/>
                            </a:rPr>
                            <m:t>𝑁𝑢𝑚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+mj-ea"/>
                                  <a:cs typeface="Dubai Medium" panose="020B0603030403030204" pitchFamily="34" charset="-78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+mj-ea"/>
                                  <a:cs typeface="Dubai Medium" panose="020B0603030403030204" pitchFamily="34" charset="-78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+mj-ea"/>
                                  <a:cs typeface="Dubai Medium" panose="020B0603030403030204" pitchFamily="34" charset="-78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  <a:ea typeface="+mj-ea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1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/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𝐹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,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−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𝛥</m:t>
                                  </m:r>
                                  <m:sSubSup>
                                    <m:sSubSup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𝑘𝑇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600" dirty="0">
                  <a:latin typeface="+mj-ea"/>
                  <a:ea typeface="+mj-ea"/>
                  <a:cs typeface="Dubai Medium" panose="020B0603030403030204" pitchFamily="34" charset="-78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C026D9-D6E5-3CAD-0381-CC2A6CF33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28789"/>
                <a:ext cx="6126480" cy="1277081"/>
              </a:xfrm>
              <a:prstGeom prst="rect">
                <a:avLst/>
              </a:prstGeom>
              <a:blipFill>
                <a:blip r:embed="rId4"/>
                <a:stretch>
                  <a:fillRect l="-498" t="-1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7FF2AB90-EA66-BC8B-14DC-76417C091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100" y="2573020"/>
            <a:ext cx="5334000" cy="40005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C6257FF-FC6A-C3E0-DB85-62E99A15C8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2870770"/>
            <a:ext cx="2796540" cy="115062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86E8F5E-A5E7-B3A7-4848-B745B9EDE908}"/>
              </a:ext>
            </a:extLst>
          </p:cNvPr>
          <p:cNvSpPr txBox="1"/>
          <p:nvPr/>
        </p:nvSpPr>
        <p:spPr>
          <a:xfrm>
            <a:off x="430959" y="4717790"/>
            <a:ext cx="3276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g1 = 0.497757</a:t>
            </a:r>
          </a:p>
          <a:p>
            <a:pPr>
              <a:buNone/>
            </a:pP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g2 = 0.497900</a:t>
            </a:r>
          </a:p>
          <a:p>
            <a:pPr>
              <a:buNone/>
            </a:pP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g3 = 0.534078</a:t>
            </a:r>
          </a:p>
          <a:p>
            <a:pPr>
              <a:buNone/>
            </a:pPr>
            <a:r>
              <a:rPr lang="en-US" altLang="zh-CN" sz="2000" b="1" i="0" dirty="0" err="1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dE</a:t>
            </a: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 = 0.165139</a:t>
            </a:r>
          </a:p>
          <a:p>
            <a:pPr>
              <a:buNone/>
            </a:pP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dE2 = 0.165871</a:t>
            </a:r>
          </a:p>
          <a:p>
            <a:pPr>
              <a:buNone/>
            </a:pPr>
            <a:r>
              <a:rPr lang="nn-NO" altLang="zh-CN" sz="2000" b="1" i="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dE3 = -0.017648</a:t>
            </a:r>
          </a:p>
        </p:txBody>
      </p:sp>
    </p:spTree>
    <p:extLst>
      <p:ext uri="{BB962C8B-B14F-4D97-AF65-F5344CB8AC3E}">
        <p14:creationId xmlns:p14="http://schemas.microsoft.com/office/powerpoint/2010/main" val="276169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2AA0-9CB7-65FA-5389-C84A8DA6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0F8760-8A42-82B4-39DE-718C73E15976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二维材料</a:t>
            </a:r>
            <a:r>
              <a:rPr lang="en-US" altLang="zh-CN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TCAD</a:t>
            </a: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校准：迁移率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Dubai Medium" panose="020B0603030403030204" pitchFamily="34" charset="-7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4AF2FF-677F-7AE0-5DE0-8A2D898F8DDA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000" b="1" dirty="0">
                <a:latin typeface="+mj-ea"/>
                <a:cs typeface="Dubai Medium" panose="020B0603030403030204" pitchFamily="34" charset="-78"/>
              </a:rPr>
              <a:t>Ref:</a:t>
            </a:r>
            <a:r>
              <a:rPr lang="en-US" altLang="zh-CN" sz="1000" b="1" dirty="0"/>
              <a:t> </a:t>
            </a:r>
            <a:r>
              <a:rPr lang="en-US" altLang="zh-CN" sz="1000" dirty="0"/>
              <a:t>Analyzing the Carrier Mobility in Transition-Metal Dichalcogenide MoS</a:t>
            </a:r>
            <a:r>
              <a:rPr lang="en-US" altLang="zh-CN" sz="1000" baseline="-25000" dirty="0"/>
              <a:t>2</a:t>
            </a:r>
            <a:r>
              <a:rPr lang="en-US" altLang="zh-CN" sz="1000" dirty="0"/>
              <a:t> Field-Effect Transistors, 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Advanced Functional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MaterialsVolume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27, Issue 19 1604093 Zhihao Yu, Zhun-Yong Ong,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Songlin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Li, Jian-Bin Xu, Gang Zhang, Yong-Wei Zhang, Yi Shi, Xinran Wang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F0B0E81-1EEE-9151-0BAC-5F01AB53E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" y="1237031"/>
            <a:ext cx="1065956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限制迁移率的关键在于多种外在散射机制的共同作用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本征声子散射（声学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光学）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 低温下由声学声子主导（</a:t>
            </a:r>
            <a:r>
              <a:rPr lang="en-US" altLang="zh-CN" dirty="0"/>
              <a:t>μ ∝ T⁻¹</a:t>
            </a:r>
            <a:r>
              <a:rPr lang="zh-CN" altLang="en-US" dirty="0"/>
              <a:t>），高温下由光学声子主导（</a:t>
            </a:r>
            <a:r>
              <a:rPr lang="en-US" altLang="zh-CN" dirty="0"/>
              <a:t>μ ∝ T⁻¹·⁷</a:t>
            </a:r>
            <a:r>
              <a:rPr lang="zh-CN" altLang="en-US" dirty="0"/>
              <a:t>）</a:t>
            </a: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表面光学（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zh-CN" altLang="en-US" b="1" dirty="0">
                <a:latin typeface="Arial" panose="020B0604020202020204" pitchFamily="34" charset="0"/>
              </a:rPr>
              <a:t>声子散射（来自衬底和高</a:t>
            </a:r>
            <a:r>
              <a:rPr lang="en-US" altLang="zh-CN" b="1" dirty="0">
                <a:latin typeface="Arial" panose="020B0604020202020204" pitchFamily="34" charset="0"/>
              </a:rPr>
              <a:t>κ</a:t>
            </a:r>
            <a:r>
              <a:rPr lang="zh-CN" altLang="en-US" b="1" dirty="0">
                <a:latin typeface="Arial" panose="020B0604020202020204" pitchFamily="34" charset="0"/>
              </a:rPr>
              <a:t>栅介质）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 高</a:t>
            </a:r>
            <a:r>
              <a:rPr lang="en-US" altLang="zh-CN" dirty="0"/>
              <a:t>κ</a:t>
            </a:r>
            <a:r>
              <a:rPr lang="zh-CN" altLang="en-US" dirty="0"/>
              <a:t>介质虽然增强静电调控</a:t>
            </a: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 低频 </a:t>
            </a:r>
            <a:r>
              <a:rPr lang="en-US" altLang="zh-CN" dirty="0"/>
              <a:t>SO </a:t>
            </a:r>
            <a:r>
              <a:rPr lang="zh-CN" altLang="en-US" dirty="0"/>
              <a:t>声子会显著降低迁移率</a:t>
            </a: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 不同衬底对迁移率影响差异明显</a:t>
            </a:r>
            <a:endParaRPr lang="en-US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库仑杂质（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zh-CN" altLang="en-US" b="1" dirty="0"/>
              <a:t>散射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迁移率与杂质浓度成反比；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载流子浓度升高会增强屏蔽效应，提高迁移率；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库仑散射本身有类似声子散射的温度依赖行为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Arial" panose="020B0604020202020204" pitchFamily="34" charset="0"/>
              </a:rPr>
              <a:t>-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散射缺陷和陷阱态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>
                <a:latin typeface="Arial" panose="020B0604020202020204" pitchFamily="34" charset="0"/>
              </a:rPr>
              <a:t>低温、低载流子浓度时主导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 descr="图表, 图示&#10;&#10;AI 生成的内容可能不正确。">
            <a:extLst>
              <a:ext uri="{FF2B5EF4-FFF2-40B4-BE49-F238E27FC236}">
                <a16:creationId xmlns:a16="http://schemas.microsoft.com/office/drawing/2014/main" id="{EA1CB27C-9AF6-3C9F-04C6-4F5E546DE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958" y="2903963"/>
            <a:ext cx="2291666" cy="1690767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66957C84-C771-AA9E-7507-22E483BB4E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17"/>
          <a:stretch>
            <a:fillRect/>
          </a:stretch>
        </p:blipFill>
        <p:spPr>
          <a:xfrm>
            <a:off x="8847958" y="4673216"/>
            <a:ext cx="2291666" cy="1652533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38F43AA0-541F-279E-C591-E486D46F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7958" y="1123269"/>
            <a:ext cx="2291666" cy="170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2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6AE4-19AC-EEC3-DA97-E3EC3BC8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D2FC06-543B-5FB3-DCDC-B36E3FEB65BC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二维材料</a:t>
            </a:r>
            <a:r>
              <a:rPr lang="en-US" altLang="zh-CN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TCAD</a:t>
            </a: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校准：本征迁移率校准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Dubai Medium" panose="020B0603030403030204" pitchFamily="34" charset="-7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19727D-8142-A86D-6568-FB60234A2C1E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000" b="1" dirty="0">
                <a:latin typeface="+mj-ea"/>
                <a:cs typeface="Dubai Medium" panose="020B0603030403030204" pitchFamily="34" charset="-78"/>
              </a:rPr>
              <a:t>Ref:</a:t>
            </a:r>
            <a:r>
              <a:rPr lang="en-US" altLang="zh-CN" sz="1000" b="1" dirty="0"/>
              <a:t> </a:t>
            </a:r>
            <a:r>
              <a:rPr lang="en-US" altLang="zh-CN" sz="1000" dirty="0"/>
              <a:t>Analyzing the Carrier Mobility in Transition-Metal Dichalcogenide MoS</a:t>
            </a:r>
            <a:r>
              <a:rPr lang="en-US" altLang="zh-CN" sz="1000" baseline="-25000" dirty="0"/>
              <a:t>2</a:t>
            </a:r>
            <a:r>
              <a:rPr lang="en-US" altLang="zh-CN" sz="1000" dirty="0"/>
              <a:t> Field-Effect Transistors, 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Advanced Functional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MaterialsVolume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27, Issue 19 1604093 Zhihao Yu, Zhun-Yong Ong,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Songlin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Li, Jian-Bin Xu, Gang Zhang, Yong-Wei Zhang, Yi Shi, Xinran Wang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E65358-FE82-0ABB-551A-22DBFFFB8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3743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4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72FE-E89D-14C6-52BC-CB32BDED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AC682C-BF23-125C-1FF1-4B939AC96D3A}"/>
              </a:ext>
            </a:extLst>
          </p:cNvPr>
          <p:cNvSpPr txBox="1"/>
          <p:nvPr/>
        </p:nvSpPr>
        <p:spPr>
          <a:xfrm>
            <a:off x="1232985" y="151598"/>
            <a:ext cx="10659563" cy="66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178">
              <a:lnSpc>
                <a:spcPct val="130000"/>
              </a:lnSpc>
              <a:defRPr/>
            </a:pP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二维材料</a:t>
            </a:r>
            <a:r>
              <a:rPr lang="en-US" altLang="zh-CN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TCAD</a:t>
            </a:r>
            <a:r>
              <a:rPr lang="zh-CN" altLang="en-US" sz="320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Dubai Medium" panose="020B0603030403030204" pitchFamily="34" charset="-78"/>
              </a:rPr>
              <a:t>校准：表面光学声子散射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C29A80-8AF1-73F2-98BA-D328B3272294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000" b="1" dirty="0">
                <a:latin typeface="+mj-ea"/>
                <a:cs typeface="Dubai Medium" panose="020B0603030403030204" pitchFamily="34" charset="-78"/>
              </a:rPr>
              <a:t>Ref:</a:t>
            </a:r>
            <a:r>
              <a:rPr lang="en-US" altLang="zh-CN" sz="1000" b="1" dirty="0"/>
              <a:t> </a:t>
            </a:r>
            <a:r>
              <a:rPr lang="en-US" altLang="zh-CN" sz="1000" dirty="0"/>
              <a:t>Analyzing the Carrier Mobility in Transition-Metal Dichalcogenide MoS</a:t>
            </a:r>
            <a:r>
              <a:rPr lang="en-US" altLang="zh-CN" sz="1000" baseline="-25000" dirty="0"/>
              <a:t>2</a:t>
            </a:r>
            <a:r>
              <a:rPr lang="en-US" altLang="zh-CN" sz="1000" dirty="0"/>
              <a:t> Field-Effect Transistors, 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Advanced Functional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MaterialsVolume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27, Issue 19 1604093 Zhihao Yu, Zhun-Yong Ong, </a:t>
            </a:r>
            <a:r>
              <a:rPr lang="en-US" altLang="zh-CN" sz="1000" dirty="0" err="1">
                <a:latin typeface="+mj-ea"/>
                <a:cs typeface="Dubai Medium" panose="020B0603030403030204" pitchFamily="34" charset="-78"/>
              </a:rPr>
              <a:t>Songlin</a:t>
            </a:r>
            <a:r>
              <a:rPr lang="en-US" altLang="zh-CN" sz="1000" dirty="0">
                <a:latin typeface="+mj-ea"/>
                <a:cs typeface="Dubai Medium" panose="020B0603030403030204" pitchFamily="34" charset="-78"/>
              </a:rPr>
              <a:t> Li, Jian-Bin Xu, Gang Zhang, Yong-Wei Zhang, Yi Shi, Xinran Wang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0B31A7-4418-1E2E-BF94-6D8A70BA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96" y="1903138"/>
            <a:ext cx="5334000" cy="4000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165FB50-EE40-6CD8-CF27-1A47ABD0C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698" y="190313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5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614</Words>
  <Application>Microsoft Office PowerPoint</Application>
  <PresentationFormat>宽屏</PresentationFormat>
  <Paragraphs>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等线</vt:lpstr>
      <vt:lpstr>等线 Light</vt:lpstr>
      <vt:lpstr>微软雅黑</vt:lpstr>
      <vt:lpstr>幼圆</vt:lpstr>
      <vt:lpstr>Arial</vt:lpstr>
      <vt:lpstr>Arial Black</vt:lpstr>
      <vt:lpstr>Cambria Math</vt:lpstr>
      <vt:lpstr>Times New Roman</vt:lpstr>
      <vt:lpstr>Wingdings 2</vt:lpstr>
      <vt:lpstr>Office 主题​​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13953853826@139.com</dc:creator>
  <cp:lastModifiedBy>haobo Huang</cp:lastModifiedBy>
  <cp:revision>166</cp:revision>
  <dcterms:created xsi:type="dcterms:W3CDTF">2025-08-30T08:35:43Z</dcterms:created>
  <dcterms:modified xsi:type="dcterms:W3CDTF">2026-02-27T14:40:21Z</dcterms:modified>
</cp:coreProperties>
</file>